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scope: original Relative-Geometric QKV, the active joint SO_1 + SO_2 model chosen by the user. It is NOT the September geometry-modulated cosine-QKV variant. The original model has additive geometry bias only: it does not L2-normalize Q/K, learn a bounded cosine scale, or dimensionwise-modulate Q-K products. Each of four graph blocks has independent parameters. Geometry enters the attention scores only; value projections act on normalized node states. Morphology may affect values indirectly through node states.</a:t>
            </a:r>
          </a:p>
          <a:p>
            <a:r>
              <a:t>Sources: src/spatial_benchmark/relative_qkv_graph_transformer.py; src/spatial_benchmark/models.py; experiments/campaigns/cmp_20261016_so12_pearson_relative_qkv_train_validation/README.md and configs/seed0_attempt2.yaml. Directed graph edges are sender j to receiver i; there are no self-loop edges. Same-cell information travels through residuals and the encoder. The k200/r500 um graph is radial-stratified with symmetrization, so final incoming degree is not necessarily 200.</a:t>
            </a:r>
          </a:p>
          <a:p>
            <a:r>
              <a:t>Current objective: each cell independently masks 0 through 1,000 genes uniformly, then samples that many gene positions without replacement. Input Pearson features are recomputed from visible raw counts only, using training-fitted gene frequencies and transformations. Hidden entries are exactly zero; an explicit gene mask and 22 permitted morphology/imaging fields remain visible. Ten training mask views per core per epoch; three fixed validation views. Fully observed Pearson targets are used only for supervision. Huber loss delta=1 is evaluated at masked entries.</a:t>
            </a:r>
          </a:p>
          <a:p>
            <a:r>
              <a:t>Dataset split: 20 training cores/10 donor groups and 8 validation cores/4 donor groups. Validation is exploratory and used for model selection; there is no untouched test partition. Training status and metrics are intentionally omitted from the architecture diagram. Leiden clustering is an exploratory downstream representation analysis, not part of the masked prediction objective. Attention/Jacobian analyses are future hypothesis generation; attention is model routing and Jacobians are local sensitivities, not causal effects. Historical clustering findings must not be assigned to this active run without new evidence.</a:t>
            </a:r>
          </a:p>
          <a:p>
            <a:r>
              <a:t>All visible slide objects are native editable shapes, connectors, or text boxes. The accompanying architecture_preview.pdf is a vector layout proof generated from the same drawing calls, not a rendering by Microsoft PowerPoint. Fonts: FreeSans and NanumGothic; PowerPoint can substitute another sans-serif font if necessary.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scope: original Relative-Geometric QKV, the active joint SO_1 + SO_2 model chosen by the user. It is NOT the September geometry-modulated cosine-QKV variant. The original model has additive geometry bias only: it does not L2-normalize Q/K, learn a bounded cosine scale, or dimensionwise-modulate Q-K products. Each of four graph blocks has independent parameters. Geometry enters the attention scores only; value projections act on normalized node states. Morphology may affect values indirectly through node states.</a:t>
            </a:r>
          </a:p>
          <a:p>
            <a:r>
              <a:t>Sources: src/spatial_benchmark/relative_qkv_graph_transformer.py; src/spatial_benchmark/models.py; experiments/campaigns/cmp_20261016_so12_pearson_relative_qkv_train_validation/README.md and configs/seed0_attempt2.yaml. Directed graph edges are sender j to receiver i; there are no self-loop edges. Same-cell information travels through residuals and the encoder. The k200/r500 um graph is radial-stratified with symmetrization, so final incoming degree is not necessarily 200.</a:t>
            </a:r>
          </a:p>
          <a:p>
            <a:r>
              <a:t>Current objective: each cell independently masks 0 through 1,000 genes uniformly, then samples that many gene positions without replacement. Input Pearson features are recomputed from visible raw counts only, using training-fitted gene frequencies and transformations. Hidden entries are exactly zero; an explicit gene mask and 22 permitted morphology/imaging fields remain visible. Ten training mask views per core per epoch; three fixed validation views. Fully observed Pearson targets are used only for supervision. Huber loss delta=1 is evaluated at masked entries.</a:t>
            </a:r>
          </a:p>
          <a:p>
            <a:r>
              <a:t>Dataset split: 20 training cores/10 donor groups and 8 validation cores/4 donor groups. Validation is exploratory and used for model selection; there is no untouched test partition. Training status and metrics are intentionally omitted from the architecture diagram. Leiden clustering is an exploratory downstream representation analysis, not part of the masked prediction objective. Attention/Jacobian analyses are future hypothesis generation; attention is model routing and Jacobians are local sensitivities, not causal effects. Historical clustering findings must not be assigned to this active run without new evidence.</a:t>
            </a:r>
          </a:p>
          <a:p>
            <a:r>
              <a:t>All visible slide objects are native editable shapes, connectors, or text boxes. The accompanying architecture_preview.pdf is a vector layout proof generated from the same drawing calls, not a rendering by Microsoft PowerPoint. Fonts: FreeSans and NanumGothic; PowerPoint can substitute another sans-serif font if necessary.</a:t>
            </a:r>
          </a:p>
          <a:p>
            <a:r>
              <a:t>Equation conventions: current configured attention dropout is 0.0, so the softmax weights enter value aggregation directly. Residual/FFN dropout is 0.1. RelativePositionBiasEncoder maps 70 to 128, LayerNorm and GELU, then 128 to 8. Its final projection is exactly zero-initialized, so geometry bias starts at zero. Values have no direct edge-geometry projection. The block is pre-LayerNorm and the residual FFN has GELU and dropout. The node encoder adds separate expression, mask, and morphology projections before LayerNorm, GELU, and dropout. The current 22 morphology features do not include additional missing-indicator channels.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scope: original Relative-Geometric QKV, the active joint SO_1 + SO_2 model chosen by the user. It is NOT the September geometry-modulated cosine-QKV variant. The original model has additive geometry bias only: it does not L2-normalize Q/K, learn a bounded cosine scale, or dimensionwise-modulate Q-K products. Each of four graph blocks has independent parameters. Geometry enters the attention scores only; value projections act on normalized node states. Morphology may affect values indirectly through node states.</a:t>
            </a:r>
          </a:p>
          <a:p>
            <a:r>
              <a:t>Sources: src/spatial_benchmark/relative_qkv_graph_transformer.py; src/spatial_benchmark/models.py; experiments/campaigns/cmp_20261016_so12_pearson_relative_qkv_train_validation/README.md and configs/seed0_attempt2.yaml. Directed graph edges are sender j to receiver i; there are no self-loop edges. Same-cell information travels through residuals and the encoder. The k200/r500 um graph is radial-stratified with symmetrization, so final incoming degree is not necessarily 200.</a:t>
            </a:r>
          </a:p>
          <a:p>
            <a:r>
              <a:t>Current objective: each cell independently masks 0 through 1,000 genes uniformly, then samples that many gene positions without replacement. Input Pearson features are recomputed from visible raw counts only, using training-fitted gene frequencies and transformations. Hidden entries are exactly zero; an explicit gene mask and 22 permitted morphology/imaging fields remain visible. Ten training mask views per core per epoch; three fixed validation views. Fully observed Pearson targets are used only for supervision. Huber loss delta=1 is evaluated at masked entries.</a:t>
            </a:r>
          </a:p>
          <a:p>
            <a:r>
              <a:t>Dataset split: 20 training cores/10 donor groups and 8 validation cores/4 donor groups. Validation is exploratory and used for model selection; there is no untouched test partition. Training status and metrics are intentionally omitted from the architecture diagram. Leiden clustering is an exploratory downstream representation analysis, not part of the masked prediction objective. Attention/Jacobian analyses are future hypothesis generation; attention is model routing and Jacobians are local sensitivities, not causal effects. Historical clustering findings must not be assigned to this active run without new evidence.</a:t>
            </a:r>
          </a:p>
          <a:p>
            <a:r>
              <a:t>All visible slide objects are native editable shapes, connectors, or text boxes. The accompanying architecture_preview.pdf is a vector layout proof generated from the same drawing calls, not a rendering by Microsoft PowerPoint. Fonts: FreeSans and NanumGothic; PowerPoint can substitute another sans-serif font if necessary.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92608"/>
            <a:ext cx="11247120" cy="502920"/>
          </a:xfrm>
          <a:prstGeom prst="rect">
            <a:avLst/>
          </a:prstGeom>
          <a:noFill/>
        </p:spPr>
        <p:txBody>
          <a:bodyPr wrap="square" lIns="0" rIns="0" tIns="0" bIns="0" anchor="t">
            <a:spAutoFit/>
          </a:bodyPr>
          <a:lstStyle/>
          <a:p>
            <a:pPr algn="l">
              <a:lnSpc>
                <a:spcPts val="3422"/>
              </a:lnSpc>
              <a:spcBef>
                <a:spcPts val="0"/>
              </a:spcBef>
              <a:spcAft>
                <a:spcPts val="0"/>
              </a:spcAft>
              <a:defRPr sz="2900" b="1">
                <a:solidFill>
                  <a:srgbClr val="16354A"/>
                </a:solidFill>
                <a:latin typeface="FreeSans"/>
              </a:defRPr>
            </a:pPr>
            <a:r>
              <a:t>BAGM: masked expression learning in a tissue graph</a:t>
            </a:r>
          </a:p>
        </p:txBody>
      </p:sp>
      <p:sp>
        <p:nvSpPr>
          <p:cNvPr id="3" name="TextBox 2"/>
          <p:cNvSpPr txBox="1"/>
          <p:nvPr/>
        </p:nvSpPr>
        <p:spPr>
          <a:xfrm>
            <a:off x="475488" y="877824"/>
            <a:ext cx="11109960" cy="365760"/>
          </a:xfrm>
          <a:prstGeom prst="rect">
            <a:avLst/>
          </a:prstGeom>
          <a:noFill/>
        </p:spPr>
        <p:txBody>
          <a:bodyPr wrap="square" lIns="0" rIns="0" tIns="0" bIns="0" anchor="t">
            <a:spAutoFit/>
          </a:bodyPr>
          <a:lstStyle/>
          <a:p>
            <a:pPr algn="l">
              <a:lnSpc>
                <a:spcPts val="1652"/>
              </a:lnSpc>
              <a:spcBef>
                <a:spcPts val="0"/>
              </a:spcBef>
              <a:spcAft>
                <a:spcPts val="0"/>
              </a:spcAft>
              <a:defRPr sz="1400" b="0">
                <a:solidFill>
                  <a:srgbClr val="526470"/>
                </a:solidFill>
                <a:latin typeface="FreeSans"/>
              </a:defRPr>
            </a:pPr>
            <a:r>
              <a:t>Current model: original Relative-Geometric QKV  |  Integrated SO_1 + SO_2 dataset</a:t>
            </a:r>
          </a:p>
        </p:txBody>
      </p:sp>
      <p:cxnSp>
        <p:nvCxnSpPr>
          <p:cNvPr id="4" name="Connector 3"/>
          <p:cNvCxnSpPr/>
          <p:nvPr/>
        </p:nvCxnSpPr>
        <p:spPr>
          <a:xfrm>
            <a:off x="475488" y="1307592"/>
            <a:ext cx="11247120" cy="0"/>
          </a:xfrm>
          <a:prstGeom prst="line">
            <a:avLst/>
          </a:prstGeom>
          <a:ln w="12700">
            <a:solidFill>
              <a:srgbClr val="B9CCD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75488" y="6519672"/>
            <a:ext cx="10607040" cy="182880"/>
          </a:xfrm>
          <a:prstGeom prst="rect">
            <a:avLst/>
          </a:prstGeom>
          <a:noFill/>
        </p:spPr>
        <p:txBody>
          <a:bodyPr wrap="square" lIns="0" rIns="0" tIns="0" bIns="0" anchor="t">
            <a:spAutoFit/>
          </a:bodyPr>
          <a:lstStyle/>
          <a:p>
            <a:pPr algn="l">
              <a:lnSpc>
                <a:spcPts val="1062"/>
              </a:lnSpc>
              <a:spcBef>
                <a:spcPts val="0"/>
              </a:spcBef>
              <a:spcAft>
                <a:spcPts val="0"/>
              </a:spcAft>
              <a:defRPr sz="900" b="0">
                <a:solidFill>
                  <a:srgbClr val="526470"/>
                </a:solidFill>
                <a:latin typeface="FreeSans"/>
              </a:defRPr>
            </a:pPr>
            <a:r>
              <a:t>BAGM  •  Editable architecture draft  •  16 October 2026</a:t>
            </a:r>
          </a:p>
        </p:txBody>
      </p:sp>
      <p:sp>
        <p:nvSpPr>
          <p:cNvPr id="6" name="TextBox 5"/>
          <p:cNvSpPr txBox="1"/>
          <p:nvPr/>
        </p:nvSpPr>
        <p:spPr>
          <a:xfrm>
            <a:off x="11292840" y="6519672"/>
            <a:ext cx="411480" cy="182880"/>
          </a:xfrm>
          <a:prstGeom prst="rect">
            <a:avLst/>
          </a:prstGeom>
          <a:noFill/>
        </p:spPr>
        <p:txBody>
          <a:bodyPr wrap="square" lIns="0" rIns="0" tIns="0" bIns="0" anchor="t">
            <a:spAutoFit/>
          </a:bodyPr>
          <a:lstStyle/>
          <a:p>
            <a:pPr algn="r">
              <a:lnSpc>
                <a:spcPts val="1062"/>
              </a:lnSpc>
              <a:spcBef>
                <a:spcPts val="0"/>
              </a:spcBef>
              <a:spcAft>
                <a:spcPts val="0"/>
              </a:spcAft>
              <a:defRPr sz="900" b="0">
                <a:solidFill>
                  <a:srgbClr val="526470"/>
                </a:solidFill>
                <a:latin typeface="FreeSans"/>
              </a:defRPr>
            </a:pPr>
            <a:r>
              <a:t>1</a:t>
            </a:r>
          </a:p>
        </p:txBody>
      </p:sp>
      <p:sp>
        <p:nvSpPr>
          <p:cNvPr id="7" name="Rounded Rectangle 6"/>
          <p:cNvSpPr/>
          <p:nvPr/>
        </p:nvSpPr>
        <p:spPr>
          <a:xfrm>
            <a:off x="4983480" y="1627632"/>
            <a:ext cx="3337560" cy="932688"/>
          </a:xfrm>
          <a:prstGeom prst="roundRect">
            <a:avLst>
              <a:gd name="adj" fmla="val 8000"/>
            </a:avLst>
          </a:prstGeom>
          <a:solidFill>
            <a:srgbClr val="E8F5F2"/>
          </a:solidFill>
          <a:ln w="12700">
            <a:solidFill>
              <a:srgbClr val="218F8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20640" y="1746504"/>
            <a:ext cx="3063240" cy="256032"/>
          </a:xfrm>
          <a:prstGeom prst="rect">
            <a:avLst/>
          </a:prstGeom>
          <a:noFill/>
        </p:spPr>
        <p:txBody>
          <a:bodyPr wrap="square" lIns="0" rIns="0" tIns="0" bIns="0" anchor="t">
            <a:spAutoFit/>
          </a:bodyPr>
          <a:lstStyle/>
          <a:p>
            <a:pPr algn="ctr">
              <a:lnSpc>
                <a:spcPts val="1770"/>
              </a:lnSpc>
              <a:spcBef>
                <a:spcPts val="0"/>
              </a:spcBef>
              <a:spcAft>
                <a:spcPts val="0"/>
              </a:spcAft>
              <a:defRPr sz="1500" b="1">
                <a:solidFill>
                  <a:srgbClr val="16354A"/>
                </a:solidFill>
                <a:latin typeface="FreeSans"/>
              </a:defRPr>
            </a:pPr>
            <a:r>
              <a:t>Spatial graph + relative geometry</a:t>
            </a:r>
          </a:p>
        </p:txBody>
      </p:sp>
      <p:sp>
        <p:nvSpPr>
          <p:cNvPr id="9" name="TextBox 8"/>
          <p:cNvSpPr txBox="1"/>
          <p:nvPr/>
        </p:nvSpPr>
        <p:spPr>
          <a:xfrm>
            <a:off x="5102352" y="2075688"/>
            <a:ext cx="3108960" cy="393192"/>
          </a:xfrm>
          <a:prstGeom prst="rect">
            <a:avLst/>
          </a:prstGeom>
          <a:noFill/>
        </p:spPr>
        <p:txBody>
          <a:bodyPr wrap="square" lIns="0" rIns="0" tIns="0" bIns="0" anchor="t">
            <a:spAutoFit/>
          </a:bodyPr>
          <a:lstStyle/>
          <a:p>
            <a:pPr algn="ctr">
              <a:lnSpc>
                <a:spcPts val="1451"/>
              </a:lnSpc>
              <a:spcBef>
                <a:spcPts val="0"/>
              </a:spcBef>
              <a:spcAft>
                <a:spcPts val="0"/>
              </a:spcAft>
              <a:defRPr sz="1230" b="0">
                <a:solidFill>
                  <a:srgbClr val="526470"/>
                </a:solidFill>
                <a:latin typeface="FreeSans"/>
              </a:defRPr>
            </a:pPr>
            <a:r>
              <a:t>Per-core radial-stratified k200 / 500 μm</a:t>
            </a:r>
          </a:p>
          <a:p>
            <a:pPr algn="ctr">
              <a:lnSpc>
                <a:spcPts val="1451"/>
              </a:lnSpc>
              <a:spcBef>
                <a:spcPts val="0"/>
              </a:spcBef>
              <a:spcAft>
                <a:spcPts val="0"/>
              </a:spcAft>
              <a:defRPr sz="1230" b="0">
                <a:solidFill>
                  <a:srgbClr val="526470"/>
                </a:solidFill>
                <a:latin typeface="FreeSans"/>
              </a:defRPr>
            </a:pPr>
            <a:r>
              <a:t>70-D edge features → per-head logit bias</a:t>
            </a:r>
          </a:p>
        </p:txBody>
      </p:sp>
      <p:cxnSp>
        <p:nvCxnSpPr>
          <p:cNvPr id="10" name="Connector 9"/>
          <p:cNvCxnSpPr/>
          <p:nvPr/>
        </p:nvCxnSpPr>
        <p:spPr>
          <a:xfrm>
            <a:off x="6652260" y="2560320"/>
            <a:ext cx="0" cy="384048"/>
          </a:xfrm>
          <a:prstGeom prst="line">
            <a:avLst/>
          </a:prstGeom>
          <a:ln w="20320">
            <a:solidFill>
              <a:srgbClr val="218F8D"/>
            </a:solidFill>
            <a:tailEnd type="triangle" w="sm" len="sm"/>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57200" y="2944368"/>
            <a:ext cx="2423160" cy="1344168"/>
          </a:xfrm>
          <a:prstGeom prst="roundRect">
            <a:avLst>
              <a:gd name="adj" fmla="val 8000"/>
            </a:avLst>
          </a:prstGeom>
          <a:solidFill>
            <a:srgbClr val="EAF3F8"/>
          </a:solidFill>
          <a:ln w="12700">
            <a:solidFill>
              <a:srgbClr val="247C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118104"/>
            <a:ext cx="2240279" cy="384048"/>
          </a:xfrm>
          <a:prstGeom prst="rect">
            <a:avLst/>
          </a:prstGeom>
          <a:noFill/>
        </p:spPr>
        <p:txBody>
          <a:bodyPr wrap="square" lIns="0" rIns="0" tIns="0" bIns="0" anchor="t">
            <a:spAutoFit/>
          </a:bodyPr>
          <a:lstStyle/>
          <a:p>
            <a:pPr algn="ctr">
              <a:lnSpc>
                <a:spcPts val="2005"/>
              </a:lnSpc>
              <a:spcBef>
                <a:spcPts val="0"/>
              </a:spcBef>
              <a:spcAft>
                <a:spcPts val="0"/>
              </a:spcAft>
              <a:defRPr sz="1700" b="1">
                <a:solidFill>
                  <a:srgbClr val="16354A"/>
                </a:solidFill>
                <a:latin typeface="FreeSans"/>
              </a:defRPr>
            </a:pPr>
            <a:r>
              <a:t>Masked cell inputs</a:t>
            </a:r>
          </a:p>
        </p:txBody>
      </p:sp>
      <p:sp>
        <p:nvSpPr>
          <p:cNvPr id="13" name="TextBox 12"/>
          <p:cNvSpPr txBox="1"/>
          <p:nvPr/>
        </p:nvSpPr>
        <p:spPr>
          <a:xfrm>
            <a:off x="548640" y="3657600"/>
            <a:ext cx="2240279" cy="548640"/>
          </a:xfrm>
          <a:prstGeom prst="rect">
            <a:avLst/>
          </a:prstGeom>
          <a:noFill/>
        </p:spPr>
        <p:txBody>
          <a:bodyPr wrap="square" lIns="0" rIns="0" tIns="0" bIns="0" anchor="t">
            <a:spAutoFit/>
          </a:bodyPr>
          <a:lstStyle/>
          <a:p>
            <a:pPr algn="ctr">
              <a:lnSpc>
                <a:spcPts val="1297"/>
              </a:lnSpc>
              <a:spcBef>
                <a:spcPts val="0"/>
              </a:spcBef>
              <a:spcAft>
                <a:spcPts val="0"/>
              </a:spcAft>
              <a:defRPr sz="1100" b="0">
                <a:solidFill>
                  <a:srgbClr val="526470"/>
                </a:solidFill>
                <a:latin typeface="FreeSans"/>
              </a:defRPr>
            </a:pPr>
            <a:r>
              <a:t>Visible-only Pearson features</a:t>
            </a:r>
          </a:p>
          <a:p>
            <a:pPr algn="ctr">
              <a:lnSpc>
                <a:spcPts val="1297"/>
              </a:lnSpc>
              <a:spcBef>
                <a:spcPts val="0"/>
              </a:spcBef>
              <a:spcAft>
                <a:spcPts val="0"/>
              </a:spcAft>
              <a:defRPr sz="1100" b="0">
                <a:solidFill>
                  <a:srgbClr val="526470"/>
                </a:solidFill>
                <a:latin typeface="FreeSans"/>
              </a:defRPr>
            </a:pPr>
            <a:r>
              <a:t>Explicit mask + 22 morphology fields</a:t>
            </a:r>
          </a:p>
        </p:txBody>
      </p:sp>
      <p:sp>
        <p:nvSpPr>
          <p:cNvPr id="14" name="Rounded Rectangle 13"/>
          <p:cNvSpPr/>
          <p:nvPr/>
        </p:nvSpPr>
        <p:spPr>
          <a:xfrm>
            <a:off x="3218688" y="2944368"/>
            <a:ext cx="1417320" cy="1344168"/>
          </a:xfrm>
          <a:prstGeom prst="roundRect">
            <a:avLst>
              <a:gd name="adj" fmla="val 8000"/>
            </a:avLst>
          </a:prstGeom>
          <a:solidFill>
            <a:srgbClr val="EAF3F8"/>
          </a:solidFill>
          <a:ln w="12700">
            <a:solidFill>
              <a:srgbClr val="247C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10128" y="3118104"/>
            <a:ext cx="1234440" cy="384048"/>
          </a:xfrm>
          <a:prstGeom prst="rect">
            <a:avLst/>
          </a:prstGeom>
          <a:noFill/>
        </p:spPr>
        <p:txBody>
          <a:bodyPr wrap="square" lIns="0" rIns="0" tIns="0" bIns="0" anchor="t">
            <a:spAutoFit/>
          </a:bodyPr>
          <a:lstStyle/>
          <a:p>
            <a:pPr algn="ctr">
              <a:lnSpc>
                <a:spcPts val="1652"/>
              </a:lnSpc>
              <a:spcBef>
                <a:spcPts val="0"/>
              </a:spcBef>
              <a:spcAft>
                <a:spcPts val="0"/>
              </a:spcAft>
              <a:defRPr sz="1400" b="1">
                <a:solidFill>
                  <a:srgbClr val="16354A"/>
                </a:solidFill>
                <a:latin typeface="FreeSans"/>
              </a:defRPr>
            </a:pPr>
            <a:r>
              <a:t>Node encoder</a:t>
            </a:r>
          </a:p>
        </p:txBody>
      </p:sp>
      <p:sp>
        <p:nvSpPr>
          <p:cNvPr id="16" name="TextBox 15"/>
          <p:cNvSpPr txBox="1"/>
          <p:nvPr/>
        </p:nvSpPr>
        <p:spPr>
          <a:xfrm>
            <a:off x="3310128" y="3657600"/>
            <a:ext cx="1234440" cy="548640"/>
          </a:xfrm>
          <a:prstGeom prst="rect">
            <a:avLst/>
          </a:prstGeom>
          <a:noFill/>
        </p:spPr>
        <p:txBody>
          <a:bodyPr wrap="square" lIns="0" rIns="0" tIns="0" bIns="0" anchor="t">
            <a:spAutoFit/>
          </a:bodyPr>
          <a:lstStyle/>
          <a:p>
            <a:pPr algn="ctr">
              <a:lnSpc>
                <a:spcPts val="1416"/>
              </a:lnSpc>
              <a:spcBef>
                <a:spcPts val="0"/>
              </a:spcBef>
              <a:spcAft>
                <a:spcPts val="0"/>
              </a:spcAft>
              <a:defRPr sz="1200" b="0">
                <a:solidFill>
                  <a:srgbClr val="526470"/>
                </a:solidFill>
                <a:latin typeface="FreeSans"/>
              </a:defRPr>
            </a:pPr>
            <a:r>
              <a:t>Shared projection</a:t>
            </a:r>
          </a:p>
          <a:p>
            <a:pPr algn="ctr">
              <a:lnSpc>
                <a:spcPts val="1416"/>
              </a:lnSpc>
              <a:spcBef>
                <a:spcPts val="0"/>
              </a:spcBef>
              <a:spcAft>
                <a:spcPts val="0"/>
              </a:spcAft>
              <a:defRPr sz="1200" b="0">
                <a:solidFill>
                  <a:srgbClr val="526470"/>
                </a:solidFill>
                <a:latin typeface="FreeSans"/>
              </a:defRPr>
            </a:pPr>
            <a:r>
              <a:t>h⁰: 256-D</a:t>
            </a:r>
          </a:p>
        </p:txBody>
      </p:sp>
      <p:sp>
        <p:nvSpPr>
          <p:cNvPr id="17" name="Rounded Rectangle 16"/>
          <p:cNvSpPr/>
          <p:nvPr/>
        </p:nvSpPr>
        <p:spPr>
          <a:xfrm>
            <a:off x="4983480" y="2944368"/>
            <a:ext cx="3337560" cy="1344168"/>
          </a:xfrm>
          <a:prstGeom prst="roundRect">
            <a:avLst>
              <a:gd name="adj" fmla="val 8000"/>
            </a:avLst>
          </a:prstGeom>
          <a:solidFill>
            <a:srgbClr val="EAF3F8"/>
          </a:solidFill>
          <a:ln w="12700">
            <a:solidFill>
              <a:srgbClr val="247C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74920" y="3118104"/>
            <a:ext cx="3154679" cy="384048"/>
          </a:xfrm>
          <a:prstGeom prst="rect">
            <a:avLst/>
          </a:prstGeom>
          <a:noFill/>
        </p:spPr>
        <p:txBody>
          <a:bodyPr wrap="square" lIns="0" rIns="0" tIns="0" bIns="0" anchor="t">
            <a:spAutoFit/>
          </a:bodyPr>
          <a:lstStyle/>
          <a:p>
            <a:pPr algn="ctr">
              <a:lnSpc>
                <a:spcPts val="2005"/>
              </a:lnSpc>
              <a:spcBef>
                <a:spcPts val="0"/>
              </a:spcBef>
              <a:spcAft>
                <a:spcPts val="0"/>
              </a:spcAft>
              <a:defRPr sz="1700" b="1">
                <a:solidFill>
                  <a:srgbClr val="16354A"/>
                </a:solidFill>
                <a:latin typeface="FreeSans"/>
              </a:defRPr>
            </a:pPr>
            <a:r>
              <a:t>4 graph blocks</a:t>
            </a:r>
          </a:p>
        </p:txBody>
      </p:sp>
      <p:sp>
        <p:nvSpPr>
          <p:cNvPr id="19" name="TextBox 18"/>
          <p:cNvSpPr txBox="1"/>
          <p:nvPr/>
        </p:nvSpPr>
        <p:spPr>
          <a:xfrm>
            <a:off x="5074920" y="3657600"/>
            <a:ext cx="3154679" cy="548640"/>
          </a:xfrm>
          <a:prstGeom prst="rect">
            <a:avLst/>
          </a:prstGeom>
          <a:noFill/>
        </p:spPr>
        <p:txBody>
          <a:bodyPr wrap="square" lIns="0" rIns="0" tIns="0" bIns="0" anchor="t">
            <a:spAutoFit/>
          </a:bodyPr>
          <a:lstStyle/>
          <a:p>
            <a:pPr algn="ctr">
              <a:lnSpc>
                <a:spcPts val="1534"/>
              </a:lnSpc>
              <a:spcBef>
                <a:spcPts val="0"/>
              </a:spcBef>
              <a:spcAft>
                <a:spcPts val="0"/>
              </a:spcAft>
              <a:defRPr sz="1300" b="0">
                <a:solidFill>
                  <a:srgbClr val="526470"/>
                </a:solidFill>
                <a:latin typeface="FreeSans"/>
              </a:defRPr>
            </a:pPr>
            <a:r>
              <a:t>Independent layer parameters</a:t>
            </a:r>
          </a:p>
          <a:p>
            <a:pPr algn="ctr">
              <a:lnSpc>
                <a:spcPts val="1534"/>
              </a:lnSpc>
              <a:spcBef>
                <a:spcPts val="0"/>
              </a:spcBef>
              <a:spcAft>
                <a:spcPts val="0"/>
              </a:spcAft>
              <a:defRPr sz="1300" b="0">
                <a:solidFill>
                  <a:srgbClr val="526470"/>
                </a:solidFill>
                <a:latin typeface="FreeSans"/>
              </a:defRPr>
            </a:pPr>
            <a:r>
              <a:t>8 heads · FFN width 1,024</a:t>
            </a:r>
          </a:p>
        </p:txBody>
      </p:sp>
      <p:sp>
        <p:nvSpPr>
          <p:cNvPr id="20" name="Rounded Rectangle 19"/>
          <p:cNvSpPr/>
          <p:nvPr/>
        </p:nvSpPr>
        <p:spPr>
          <a:xfrm>
            <a:off x="8686800" y="2944368"/>
            <a:ext cx="3035808" cy="1344168"/>
          </a:xfrm>
          <a:prstGeom prst="roundRect">
            <a:avLst>
              <a:gd name="adj" fmla="val 8000"/>
            </a:avLst>
          </a:prstGeom>
          <a:solidFill>
            <a:srgbClr val="E8F5F2"/>
          </a:solidFill>
          <a:ln w="12700">
            <a:solidFill>
              <a:srgbClr val="218F8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0" y="3118104"/>
            <a:ext cx="2852927" cy="384048"/>
          </a:xfrm>
          <a:prstGeom prst="rect">
            <a:avLst/>
          </a:prstGeom>
          <a:noFill/>
        </p:spPr>
        <p:txBody>
          <a:bodyPr wrap="square" lIns="0" rIns="0" tIns="0" bIns="0" anchor="t">
            <a:spAutoFit/>
          </a:bodyPr>
          <a:lstStyle/>
          <a:p>
            <a:pPr algn="ctr">
              <a:lnSpc>
                <a:spcPts val="2005"/>
              </a:lnSpc>
              <a:spcBef>
                <a:spcPts val="0"/>
              </a:spcBef>
              <a:spcAft>
                <a:spcPts val="0"/>
              </a:spcAft>
              <a:defRPr sz="1700" b="1">
                <a:solidFill>
                  <a:srgbClr val="16354A"/>
                </a:solidFill>
                <a:latin typeface="FreeSans"/>
              </a:defRPr>
            </a:pPr>
            <a:r>
              <a:t>Expression decoder</a:t>
            </a:r>
          </a:p>
        </p:txBody>
      </p:sp>
      <p:sp>
        <p:nvSpPr>
          <p:cNvPr id="22" name="TextBox 21"/>
          <p:cNvSpPr txBox="1"/>
          <p:nvPr/>
        </p:nvSpPr>
        <p:spPr>
          <a:xfrm>
            <a:off x="8778240" y="3657600"/>
            <a:ext cx="2852927" cy="548640"/>
          </a:xfrm>
          <a:prstGeom prst="rect">
            <a:avLst/>
          </a:prstGeom>
          <a:noFill/>
        </p:spPr>
        <p:txBody>
          <a:bodyPr wrap="square" lIns="0" rIns="0" tIns="0" bIns="0" anchor="t">
            <a:spAutoFit/>
          </a:bodyPr>
          <a:lstStyle/>
          <a:p>
            <a:pPr algn="ctr">
              <a:lnSpc>
                <a:spcPts val="1416"/>
              </a:lnSpc>
              <a:spcBef>
                <a:spcPts val="0"/>
              </a:spcBef>
              <a:spcAft>
                <a:spcPts val="0"/>
              </a:spcAft>
              <a:defRPr sz="1200" b="0">
                <a:solidFill>
                  <a:srgbClr val="526470"/>
                </a:solidFill>
                <a:latin typeface="FreeSans"/>
              </a:defRPr>
            </a:pPr>
            <a:r>
              <a:t>256 → 1,024 → 1,000</a:t>
            </a:r>
          </a:p>
          <a:p>
            <a:pPr algn="ctr">
              <a:lnSpc>
                <a:spcPts val="1416"/>
              </a:lnSpc>
              <a:spcBef>
                <a:spcPts val="0"/>
              </a:spcBef>
              <a:spcAft>
                <a:spcPts val="0"/>
              </a:spcAft>
              <a:defRPr sz="1200" b="0">
                <a:solidFill>
                  <a:srgbClr val="526470"/>
                </a:solidFill>
                <a:latin typeface="FreeSans"/>
              </a:defRPr>
            </a:pPr>
            <a:r>
              <a:t>Masked-entry Huber loss (δ = 1)</a:t>
            </a:r>
          </a:p>
        </p:txBody>
      </p:sp>
      <p:cxnSp>
        <p:nvCxnSpPr>
          <p:cNvPr id="23" name="Connector 22"/>
          <p:cNvCxnSpPr/>
          <p:nvPr/>
        </p:nvCxnSpPr>
        <p:spPr>
          <a:xfrm>
            <a:off x="2880360" y="3602736"/>
            <a:ext cx="338328" cy="0"/>
          </a:xfrm>
          <a:prstGeom prst="line">
            <a:avLst/>
          </a:prstGeom>
          <a:ln w="20320">
            <a:solidFill>
              <a:srgbClr val="247CB5"/>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636008" y="3602736"/>
            <a:ext cx="347472" cy="0"/>
          </a:xfrm>
          <a:prstGeom prst="line">
            <a:avLst/>
          </a:prstGeom>
          <a:ln w="20320">
            <a:solidFill>
              <a:srgbClr val="247CB5"/>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321040" y="3602736"/>
            <a:ext cx="365760" cy="0"/>
          </a:xfrm>
          <a:prstGeom prst="line">
            <a:avLst/>
          </a:prstGeom>
          <a:ln w="20320">
            <a:solidFill>
              <a:srgbClr val="247CB5"/>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02920" y="2404872"/>
            <a:ext cx="4160520" cy="384048"/>
          </a:xfrm>
          <a:prstGeom prst="rect">
            <a:avLst/>
          </a:prstGeom>
          <a:noFill/>
        </p:spPr>
        <p:txBody>
          <a:bodyPr wrap="square" lIns="0" rIns="0" tIns="0" bIns="0" anchor="t">
            <a:spAutoFit/>
          </a:bodyPr>
          <a:lstStyle/>
          <a:p>
            <a:pPr algn="l">
              <a:lnSpc>
                <a:spcPts val="1416"/>
              </a:lnSpc>
              <a:spcBef>
                <a:spcPts val="0"/>
              </a:spcBef>
              <a:spcAft>
                <a:spcPts val="0"/>
              </a:spcAft>
              <a:defRPr sz="1200" b="0">
                <a:solidFill>
                  <a:srgbClr val="526470"/>
                </a:solidFill>
                <a:latin typeface="FreeSans"/>
              </a:defRPr>
            </a:pPr>
            <a:r>
              <a:t>Mask 0–1,000 genes independently per cell</a:t>
            </a:r>
          </a:p>
        </p:txBody>
      </p:sp>
      <p:sp>
        <p:nvSpPr>
          <p:cNvPr id="27" name="TextBox 26"/>
          <p:cNvSpPr txBox="1"/>
          <p:nvPr/>
        </p:nvSpPr>
        <p:spPr>
          <a:xfrm>
            <a:off x="4892040" y="4416552"/>
            <a:ext cx="6858000" cy="274320"/>
          </a:xfrm>
          <a:prstGeom prst="rect">
            <a:avLst/>
          </a:prstGeom>
          <a:noFill/>
        </p:spPr>
        <p:txBody>
          <a:bodyPr wrap="square" lIns="0" rIns="0" tIns="0" bIns="0" anchor="t">
            <a:spAutoFit/>
          </a:bodyPr>
          <a:lstStyle/>
          <a:p>
            <a:pPr algn="l">
              <a:lnSpc>
                <a:spcPts val="1297"/>
              </a:lnSpc>
              <a:spcBef>
                <a:spcPts val="0"/>
              </a:spcBef>
              <a:spcAft>
                <a:spcPts val="0"/>
              </a:spcAft>
              <a:defRPr sz="1100" b="0">
                <a:solidFill>
                  <a:srgbClr val="526470"/>
                </a:solidFill>
                <a:latin typeface="FreeSans"/>
              </a:defRPr>
            </a:pPr>
            <a:r>
              <a:t>No self-loop edges; residual paths retain same-cell information</a:t>
            </a:r>
          </a:p>
        </p:txBody>
      </p:sp>
      <p:cxnSp>
        <p:nvCxnSpPr>
          <p:cNvPr id="28" name="Connector 27"/>
          <p:cNvCxnSpPr/>
          <p:nvPr/>
        </p:nvCxnSpPr>
        <p:spPr>
          <a:xfrm>
            <a:off x="6652260" y="4288536"/>
            <a:ext cx="0" cy="694944"/>
          </a:xfrm>
          <a:prstGeom prst="line">
            <a:avLst/>
          </a:prstGeom>
          <a:ln w="20320">
            <a:solidFill>
              <a:srgbClr val="218F8D"/>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983480" y="4983480"/>
            <a:ext cx="3337560" cy="822960"/>
          </a:xfrm>
          <a:prstGeom prst="roundRect">
            <a:avLst>
              <a:gd name="adj" fmla="val 8000"/>
            </a:avLst>
          </a:prstGeom>
          <a:solidFill>
            <a:srgbClr val="F5F8FA"/>
          </a:solidFill>
          <a:ln w="12700">
            <a:solidFill>
              <a:srgbClr val="218F8D"/>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02352" y="5102352"/>
            <a:ext cx="3099816" cy="274320"/>
          </a:xfrm>
          <a:prstGeom prst="rect">
            <a:avLst/>
          </a:prstGeom>
          <a:noFill/>
        </p:spPr>
        <p:txBody>
          <a:bodyPr wrap="square" lIns="0" rIns="0" tIns="0" bIns="0" anchor="t">
            <a:spAutoFit/>
          </a:bodyPr>
          <a:lstStyle/>
          <a:p>
            <a:pPr algn="ctr">
              <a:lnSpc>
                <a:spcPts val="1593"/>
              </a:lnSpc>
              <a:spcBef>
                <a:spcPts val="0"/>
              </a:spcBef>
              <a:spcAft>
                <a:spcPts val="0"/>
              </a:spcAft>
              <a:defRPr sz="1350" b="1">
                <a:solidFill>
                  <a:srgbClr val="16354A"/>
                </a:solidFill>
                <a:latin typeface="FreeSans"/>
              </a:defRPr>
            </a:pPr>
            <a:r>
              <a:t>Exploratory representation analysis</a:t>
            </a:r>
          </a:p>
        </p:txBody>
      </p:sp>
      <p:sp>
        <p:nvSpPr>
          <p:cNvPr id="31" name="TextBox 30"/>
          <p:cNvSpPr txBox="1"/>
          <p:nvPr/>
        </p:nvSpPr>
        <p:spPr>
          <a:xfrm>
            <a:off x="5102352" y="5449824"/>
            <a:ext cx="3099816" cy="246888"/>
          </a:xfrm>
          <a:prstGeom prst="rect">
            <a:avLst/>
          </a:prstGeom>
          <a:noFill/>
        </p:spPr>
        <p:txBody>
          <a:bodyPr wrap="square" lIns="0" rIns="0" tIns="0" bIns="0" anchor="t">
            <a:spAutoFit/>
          </a:bodyPr>
          <a:lstStyle/>
          <a:p>
            <a:pPr algn="ctr">
              <a:lnSpc>
                <a:spcPts val="1475"/>
              </a:lnSpc>
              <a:spcBef>
                <a:spcPts val="0"/>
              </a:spcBef>
              <a:spcAft>
                <a:spcPts val="0"/>
              </a:spcAft>
              <a:defRPr sz="1250" b="0">
                <a:solidFill>
                  <a:srgbClr val="526470"/>
                </a:solidFill>
                <a:latin typeface="FreeSans"/>
              </a:defRPr>
            </a:pPr>
            <a:r>
              <a:t>Final h⁴ → Leiden clustering</a:t>
            </a:r>
          </a:p>
        </p:txBody>
      </p:sp>
      <p:sp>
        <p:nvSpPr>
          <p:cNvPr id="32" name="Rounded Rectangle 31"/>
          <p:cNvSpPr/>
          <p:nvPr/>
        </p:nvSpPr>
        <p:spPr>
          <a:xfrm>
            <a:off x="8686800" y="4983480"/>
            <a:ext cx="3035808" cy="822960"/>
          </a:xfrm>
          <a:prstGeom prst="roundRect">
            <a:avLst>
              <a:gd name="adj" fmla="val 8000"/>
            </a:avLst>
          </a:prstGeom>
          <a:solidFill>
            <a:srgbClr val="F5F8FA"/>
          </a:solidFill>
          <a:ln w="12700">
            <a:solidFill>
              <a:srgbClr val="B9CCD5"/>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96528" y="5102352"/>
            <a:ext cx="2816352" cy="274320"/>
          </a:xfrm>
          <a:prstGeom prst="rect">
            <a:avLst/>
          </a:prstGeom>
          <a:noFill/>
        </p:spPr>
        <p:txBody>
          <a:bodyPr wrap="square" lIns="0" rIns="0" tIns="0" bIns="0" anchor="t">
            <a:spAutoFit/>
          </a:bodyPr>
          <a:lstStyle/>
          <a:p>
            <a:pPr algn="ctr">
              <a:lnSpc>
                <a:spcPts val="1652"/>
              </a:lnSpc>
              <a:spcBef>
                <a:spcPts val="0"/>
              </a:spcBef>
              <a:spcAft>
                <a:spcPts val="0"/>
              </a:spcAft>
              <a:defRPr sz="1400" b="1">
                <a:solidFill>
                  <a:srgbClr val="16354A"/>
                </a:solidFill>
                <a:latin typeface="FreeSans"/>
              </a:defRPr>
            </a:pPr>
            <a:r>
              <a:t>Planned interpretation</a:t>
            </a:r>
          </a:p>
        </p:txBody>
      </p:sp>
      <p:sp>
        <p:nvSpPr>
          <p:cNvPr id="34" name="TextBox 33"/>
          <p:cNvSpPr txBox="1"/>
          <p:nvPr/>
        </p:nvSpPr>
        <p:spPr>
          <a:xfrm>
            <a:off x="8796528" y="5449824"/>
            <a:ext cx="2816352" cy="246888"/>
          </a:xfrm>
          <a:prstGeom prst="rect">
            <a:avLst/>
          </a:prstGeom>
          <a:noFill/>
        </p:spPr>
        <p:txBody>
          <a:bodyPr wrap="square" lIns="0" rIns="0" tIns="0" bIns="0" anchor="t">
            <a:spAutoFit/>
          </a:bodyPr>
          <a:lstStyle/>
          <a:p>
            <a:pPr algn="ctr">
              <a:lnSpc>
                <a:spcPts val="1475"/>
              </a:lnSpc>
              <a:spcBef>
                <a:spcPts val="0"/>
              </a:spcBef>
              <a:spcAft>
                <a:spcPts val="0"/>
              </a:spcAft>
              <a:defRPr sz="1250" b="0">
                <a:solidFill>
                  <a:srgbClr val="526470"/>
                </a:solidFill>
                <a:latin typeface="FreeSans"/>
              </a:defRPr>
            </a:pPr>
            <a:r>
              <a:t>Attention profiles · Jacobians</a:t>
            </a:r>
          </a:p>
        </p:txBody>
      </p:sp>
      <p:sp>
        <p:nvSpPr>
          <p:cNvPr id="35" name="TextBox 34"/>
          <p:cNvSpPr txBox="1"/>
          <p:nvPr/>
        </p:nvSpPr>
        <p:spPr>
          <a:xfrm>
            <a:off x="502920" y="5010912"/>
            <a:ext cx="4096512" cy="594360"/>
          </a:xfrm>
          <a:prstGeom prst="rect">
            <a:avLst/>
          </a:prstGeom>
          <a:noFill/>
        </p:spPr>
        <p:txBody>
          <a:bodyPr wrap="square" lIns="0" rIns="0" tIns="0" bIns="0" anchor="t">
            <a:spAutoFit/>
          </a:bodyPr>
          <a:lstStyle/>
          <a:p>
            <a:pPr algn="l">
              <a:lnSpc>
                <a:spcPts val="1770"/>
              </a:lnSpc>
              <a:spcBef>
                <a:spcPts val="0"/>
              </a:spcBef>
              <a:spcAft>
                <a:spcPts val="0"/>
              </a:spcAft>
              <a:defRPr sz="1500" b="1">
                <a:solidFill>
                  <a:srgbClr val="16354A"/>
                </a:solidFill>
                <a:latin typeface="FreeSans"/>
              </a:defRPr>
            </a:pPr>
            <a:r>
              <a:t>Training objective</a:t>
            </a:r>
          </a:p>
        </p:txBody>
      </p:sp>
      <p:sp>
        <p:nvSpPr>
          <p:cNvPr id="36" name="TextBox 35"/>
          <p:cNvSpPr txBox="1"/>
          <p:nvPr/>
        </p:nvSpPr>
        <p:spPr>
          <a:xfrm>
            <a:off x="502920" y="5367528"/>
            <a:ext cx="4160520" cy="457200"/>
          </a:xfrm>
          <a:prstGeom prst="rect">
            <a:avLst/>
          </a:prstGeom>
          <a:noFill/>
        </p:spPr>
        <p:txBody>
          <a:bodyPr wrap="square" lIns="0" rIns="0" tIns="0" bIns="0" anchor="t">
            <a:spAutoFit/>
          </a:bodyPr>
          <a:lstStyle/>
          <a:p>
            <a:pPr algn="l">
              <a:lnSpc>
                <a:spcPts val="1534"/>
              </a:lnSpc>
              <a:spcBef>
                <a:spcPts val="0"/>
              </a:spcBef>
              <a:spcAft>
                <a:spcPts val="0"/>
              </a:spcAft>
              <a:defRPr sz="1300" b="0">
                <a:solidFill>
                  <a:srgbClr val="526470"/>
                </a:solidFill>
                <a:latin typeface="FreeSans"/>
              </a:defRPr>
            </a:pPr>
            <a:r>
              <a:t>Predict hidden Pearson residual features</a:t>
            </a:r>
          </a:p>
          <a:p>
            <a:pPr algn="l">
              <a:lnSpc>
                <a:spcPts val="1534"/>
              </a:lnSpc>
              <a:spcBef>
                <a:spcPts val="0"/>
              </a:spcBef>
              <a:spcAft>
                <a:spcPts val="0"/>
              </a:spcAft>
              <a:defRPr sz="1300" b="0">
                <a:solidFill>
                  <a:srgbClr val="526470"/>
                </a:solidFill>
                <a:latin typeface="FreeSans"/>
              </a:defRPr>
            </a:pPr>
            <a:r>
              <a:t>from visible genes, morphology, and neighbors.</a:t>
            </a:r>
          </a:p>
        </p:txBody>
      </p:sp>
      <p:sp>
        <p:nvSpPr>
          <p:cNvPr id="37" name="TextBox 36"/>
          <p:cNvSpPr txBox="1"/>
          <p:nvPr/>
        </p:nvSpPr>
        <p:spPr>
          <a:xfrm>
            <a:off x="502920" y="6007608"/>
            <a:ext cx="11201400" cy="256032"/>
          </a:xfrm>
          <a:prstGeom prst="rect">
            <a:avLst/>
          </a:prstGeom>
          <a:noFill/>
        </p:spPr>
        <p:txBody>
          <a:bodyPr wrap="square" lIns="0" rIns="0" tIns="0" bIns="0" anchor="t">
            <a:spAutoFit/>
          </a:bodyPr>
          <a:lstStyle/>
          <a:p>
            <a:pPr algn="l">
              <a:lnSpc>
                <a:spcPts val="1297"/>
              </a:lnSpc>
              <a:spcBef>
                <a:spcPts val="0"/>
              </a:spcBef>
              <a:spcAft>
                <a:spcPts val="0"/>
              </a:spcAft>
              <a:defRPr sz="1100" b="0">
                <a:solidFill>
                  <a:srgbClr val="526470"/>
                </a:solidFill>
                <a:latin typeface="FreeSans"/>
              </a:defRPr>
            </a:pPr>
            <a:r>
              <a:t>Training: 20 cores / 10 donor groups    Validation: 8 cores / 4 groups    No independent test set</a:t>
            </a:r>
          </a:p>
        </p:txBody>
      </p:sp>
      <p:sp>
        <p:nvSpPr>
          <p:cNvPr id="38" name="TextBox 37"/>
          <p:cNvSpPr txBox="1"/>
          <p:nvPr/>
        </p:nvSpPr>
        <p:spPr>
          <a:xfrm>
            <a:off x="502920" y="6300216"/>
            <a:ext cx="11201400" cy="210312"/>
          </a:xfrm>
          <a:prstGeom prst="rect">
            <a:avLst/>
          </a:prstGeom>
          <a:noFill/>
        </p:spPr>
        <p:txBody>
          <a:bodyPr wrap="square" lIns="0" rIns="0" tIns="0" bIns="0" anchor="t">
            <a:spAutoFit/>
          </a:bodyPr>
          <a:lstStyle/>
          <a:p>
            <a:pPr algn="l">
              <a:lnSpc>
                <a:spcPts val="1085"/>
              </a:lnSpc>
              <a:spcBef>
                <a:spcPts val="0"/>
              </a:spcBef>
              <a:spcAft>
                <a:spcPts val="0"/>
              </a:spcAft>
              <a:defRPr sz="919" b="0">
                <a:solidFill>
                  <a:srgbClr val="526470"/>
                </a:solidFill>
                <a:latin typeface="FreeSans"/>
              </a:defRPr>
            </a:pPr>
            <a:r>
              <a:t>Attention describes computational routing; it does not by itself establish a biological or causal effect.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92608"/>
            <a:ext cx="11247120" cy="502920"/>
          </a:xfrm>
          <a:prstGeom prst="rect">
            <a:avLst/>
          </a:prstGeom>
          <a:noFill/>
        </p:spPr>
        <p:txBody>
          <a:bodyPr wrap="square" lIns="0" rIns="0" tIns="0" bIns="0" anchor="t">
            <a:spAutoFit/>
          </a:bodyPr>
          <a:lstStyle/>
          <a:p>
            <a:pPr algn="l">
              <a:lnSpc>
                <a:spcPts val="3422"/>
              </a:lnSpc>
              <a:spcBef>
                <a:spcPts val="0"/>
              </a:spcBef>
              <a:spcAft>
                <a:spcPts val="0"/>
              </a:spcAft>
              <a:defRPr sz="2900" b="1">
                <a:solidFill>
                  <a:srgbClr val="16354A"/>
                </a:solidFill>
                <a:latin typeface="FreeSans"/>
              </a:defRPr>
            </a:pPr>
            <a:r>
              <a:t>Inside one Relative-Geometric QKV graph block</a:t>
            </a:r>
          </a:p>
        </p:txBody>
      </p:sp>
      <p:sp>
        <p:nvSpPr>
          <p:cNvPr id="3" name="TextBox 2"/>
          <p:cNvSpPr txBox="1"/>
          <p:nvPr/>
        </p:nvSpPr>
        <p:spPr>
          <a:xfrm>
            <a:off x="475488" y="877824"/>
            <a:ext cx="11109960" cy="365760"/>
          </a:xfrm>
          <a:prstGeom prst="rect">
            <a:avLst/>
          </a:prstGeom>
          <a:noFill/>
        </p:spPr>
        <p:txBody>
          <a:bodyPr wrap="square" lIns="0" rIns="0" tIns="0" bIns="0" anchor="t">
            <a:spAutoFit/>
          </a:bodyPr>
          <a:lstStyle/>
          <a:p>
            <a:pPr algn="l">
              <a:lnSpc>
                <a:spcPts val="1652"/>
              </a:lnSpc>
              <a:spcBef>
                <a:spcPts val="0"/>
              </a:spcBef>
              <a:spcAft>
                <a:spcPts val="0"/>
              </a:spcAft>
              <a:defRPr sz="1400" b="0">
                <a:solidFill>
                  <a:srgbClr val="526470"/>
                </a:solidFill>
                <a:latin typeface="FreeSans"/>
              </a:defRPr>
            </a:pPr>
            <a:r>
              <a:t>Directed edge j → i: sender j supplies a value; receiver i selects among its incoming neighbors</a:t>
            </a:r>
          </a:p>
        </p:txBody>
      </p:sp>
      <p:cxnSp>
        <p:nvCxnSpPr>
          <p:cNvPr id="4" name="Connector 3"/>
          <p:cNvCxnSpPr/>
          <p:nvPr/>
        </p:nvCxnSpPr>
        <p:spPr>
          <a:xfrm>
            <a:off x="475488" y="1307592"/>
            <a:ext cx="11247120" cy="0"/>
          </a:xfrm>
          <a:prstGeom prst="line">
            <a:avLst/>
          </a:prstGeom>
          <a:ln w="12700">
            <a:solidFill>
              <a:srgbClr val="B9CCD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75488" y="6519672"/>
            <a:ext cx="10607040" cy="182880"/>
          </a:xfrm>
          <a:prstGeom prst="rect">
            <a:avLst/>
          </a:prstGeom>
          <a:noFill/>
        </p:spPr>
        <p:txBody>
          <a:bodyPr wrap="square" lIns="0" rIns="0" tIns="0" bIns="0" anchor="t">
            <a:spAutoFit/>
          </a:bodyPr>
          <a:lstStyle/>
          <a:p>
            <a:pPr algn="l">
              <a:lnSpc>
                <a:spcPts val="1062"/>
              </a:lnSpc>
              <a:spcBef>
                <a:spcPts val="0"/>
              </a:spcBef>
              <a:spcAft>
                <a:spcPts val="0"/>
              </a:spcAft>
              <a:defRPr sz="900" b="0">
                <a:solidFill>
                  <a:srgbClr val="526470"/>
                </a:solidFill>
                <a:latin typeface="FreeSans"/>
              </a:defRPr>
            </a:pPr>
            <a:r>
              <a:t>BAGM  •  Editable architecture draft  •  16 October 2026</a:t>
            </a:r>
          </a:p>
        </p:txBody>
      </p:sp>
      <p:sp>
        <p:nvSpPr>
          <p:cNvPr id="6" name="TextBox 5"/>
          <p:cNvSpPr txBox="1"/>
          <p:nvPr/>
        </p:nvSpPr>
        <p:spPr>
          <a:xfrm>
            <a:off x="11292840" y="6519672"/>
            <a:ext cx="411480" cy="182880"/>
          </a:xfrm>
          <a:prstGeom prst="rect">
            <a:avLst/>
          </a:prstGeom>
          <a:noFill/>
        </p:spPr>
        <p:txBody>
          <a:bodyPr wrap="square" lIns="0" rIns="0" tIns="0" bIns="0" anchor="t">
            <a:spAutoFit/>
          </a:bodyPr>
          <a:lstStyle/>
          <a:p>
            <a:pPr algn="r">
              <a:lnSpc>
                <a:spcPts val="1062"/>
              </a:lnSpc>
              <a:spcBef>
                <a:spcPts val="0"/>
              </a:spcBef>
              <a:spcAft>
                <a:spcPts val="0"/>
              </a:spcAft>
              <a:defRPr sz="900" b="0">
                <a:solidFill>
                  <a:srgbClr val="526470"/>
                </a:solidFill>
                <a:latin typeface="FreeSans"/>
              </a:defRPr>
            </a:pPr>
            <a:r>
              <a:t>2</a:t>
            </a:r>
          </a:p>
        </p:txBody>
      </p:sp>
      <p:sp>
        <p:nvSpPr>
          <p:cNvPr id="7" name="Rounded Rectangle 6"/>
          <p:cNvSpPr/>
          <p:nvPr/>
        </p:nvSpPr>
        <p:spPr>
          <a:xfrm>
            <a:off x="457200" y="1627632"/>
            <a:ext cx="8001000" cy="1188720"/>
          </a:xfrm>
          <a:prstGeom prst="roundRect">
            <a:avLst>
              <a:gd name="adj" fmla="val 8000"/>
            </a:avLst>
          </a:prstGeom>
          <a:solidFill>
            <a:srgbClr val="EAF3F8"/>
          </a:solidFill>
          <a:ln w="12700">
            <a:solidFill>
              <a:srgbClr val="B9C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746504"/>
            <a:ext cx="7598664" cy="292608"/>
          </a:xfrm>
          <a:prstGeom prst="rect">
            <a:avLst/>
          </a:prstGeom>
          <a:noFill/>
        </p:spPr>
        <p:txBody>
          <a:bodyPr wrap="square" lIns="0" rIns="0" tIns="0" bIns="0" anchor="t">
            <a:spAutoFit/>
          </a:bodyPr>
          <a:lstStyle/>
          <a:p>
            <a:pPr algn="l">
              <a:lnSpc>
                <a:spcPts val="1888"/>
              </a:lnSpc>
              <a:spcBef>
                <a:spcPts val="0"/>
              </a:spcBef>
              <a:spcAft>
                <a:spcPts val="0"/>
              </a:spcAft>
              <a:defRPr sz="1600" b="1">
                <a:solidFill>
                  <a:srgbClr val="16354A"/>
                </a:solidFill>
                <a:latin typeface="FreeSans"/>
              </a:defRPr>
            </a:pPr>
            <a:r>
              <a:t>1  Project the cell states</a:t>
            </a:r>
          </a:p>
        </p:txBody>
      </p:sp>
      <p:sp>
        <p:nvSpPr>
          <p:cNvPr id="9" name="TextBox 8"/>
          <p:cNvSpPr txBox="1"/>
          <p:nvPr/>
        </p:nvSpPr>
        <p:spPr>
          <a:xfrm>
            <a:off x="658368" y="2130552"/>
            <a:ext cx="7598664" cy="329184"/>
          </a:xfrm>
          <a:prstGeom prst="rect">
            <a:avLst/>
          </a:prstGeom>
          <a:noFill/>
        </p:spPr>
        <p:txBody>
          <a:bodyPr wrap="square" lIns="0" rIns="0" tIns="0" bIns="0" anchor="t">
            <a:spAutoFit/>
          </a:bodyPr>
          <a:lstStyle/>
          <a:p>
            <a:pPr algn="l">
              <a:lnSpc>
                <a:spcPts val="2005"/>
              </a:lnSpc>
              <a:spcBef>
                <a:spcPts val="0"/>
              </a:spcBef>
              <a:spcAft>
                <a:spcPts val="0"/>
              </a:spcAft>
              <a:defRPr sz="1700" b="0">
                <a:solidFill>
                  <a:srgbClr val="16354A"/>
                </a:solidFill>
                <a:latin typeface="FreeSans"/>
              </a:defRPr>
            </a:pPr>
            <a:r>
              <a:t>uᵢ = LN(hᵢ);    qᵢₕ = WQ,ₕ uᵢ;    kⱼₕ = WK,ₕ uⱼ;    vⱼₕ = WV,ₕ uⱼ</a:t>
            </a:r>
          </a:p>
        </p:txBody>
      </p:sp>
      <p:sp>
        <p:nvSpPr>
          <p:cNvPr id="10" name="TextBox 9"/>
          <p:cNvSpPr txBox="1"/>
          <p:nvPr/>
        </p:nvSpPr>
        <p:spPr>
          <a:xfrm>
            <a:off x="658368" y="2532888"/>
            <a:ext cx="7598664" cy="283464"/>
          </a:xfrm>
          <a:prstGeom prst="rect">
            <a:avLst/>
          </a:prstGeom>
          <a:noFill/>
        </p:spPr>
        <p:txBody>
          <a:bodyPr wrap="square" lIns="0" rIns="0" tIns="0" bIns="0" anchor="t">
            <a:spAutoFit/>
          </a:bodyPr>
          <a:lstStyle/>
          <a:p>
            <a:pPr algn="l">
              <a:lnSpc>
                <a:spcPts val="1439"/>
              </a:lnSpc>
              <a:spcBef>
                <a:spcPts val="0"/>
              </a:spcBef>
              <a:spcAft>
                <a:spcPts val="0"/>
              </a:spcAft>
              <a:defRPr sz="1220" b="0">
                <a:solidFill>
                  <a:srgbClr val="526470"/>
                </a:solidFill>
                <a:latin typeface="FreeSans"/>
              </a:defRPr>
            </a:pPr>
            <a:r>
              <a:t>Each head has 32 dimensions; Q, K, and V use the normalized cell state.</a:t>
            </a:r>
          </a:p>
        </p:txBody>
      </p:sp>
      <p:sp>
        <p:nvSpPr>
          <p:cNvPr id="11" name="Rounded Rectangle 10"/>
          <p:cNvSpPr/>
          <p:nvPr/>
        </p:nvSpPr>
        <p:spPr>
          <a:xfrm>
            <a:off x="457200" y="3044952"/>
            <a:ext cx="8001000" cy="1280160"/>
          </a:xfrm>
          <a:prstGeom prst="roundRect">
            <a:avLst>
              <a:gd name="adj" fmla="val 8000"/>
            </a:avLst>
          </a:prstGeom>
          <a:solidFill>
            <a:srgbClr val="EAF3F8"/>
          </a:solidFill>
          <a:ln w="12700">
            <a:solidFill>
              <a:srgbClr val="B9C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3163824"/>
            <a:ext cx="7598664" cy="292608"/>
          </a:xfrm>
          <a:prstGeom prst="rect">
            <a:avLst/>
          </a:prstGeom>
          <a:noFill/>
        </p:spPr>
        <p:txBody>
          <a:bodyPr wrap="square" lIns="0" rIns="0" tIns="0" bIns="0" anchor="t">
            <a:spAutoFit/>
          </a:bodyPr>
          <a:lstStyle/>
          <a:p>
            <a:pPr algn="l">
              <a:lnSpc>
                <a:spcPts val="1888"/>
              </a:lnSpc>
              <a:spcBef>
                <a:spcPts val="0"/>
              </a:spcBef>
              <a:spcAft>
                <a:spcPts val="0"/>
              </a:spcAft>
              <a:defRPr sz="1600" b="1">
                <a:solidFill>
                  <a:srgbClr val="16354A"/>
                </a:solidFill>
                <a:latin typeface="FreeSans"/>
              </a:defRPr>
            </a:pPr>
            <a:r>
              <a:t>2  Add geometry bias and aggregate neighbors</a:t>
            </a:r>
          </a:p>
        </p:txBody>
      </p:sp>
      <p:sp>
        <p:nvSpPr>
          <p:cNvPr id="13" name="TextBox 12"/>
          <p:cNvSpPr txBox="1"/>
          <p:nvPr/>
        </p:nvSpPr>
        <p:spPr>
          <a:xfrm>
            <a:off x="658368" y="3547872"/>
            <a:ext cx="7598664" cy="329184"/>
          </a:xfrm>
          <a:prstGeom prst="rect">
            <a:avLst/>
          </a:prstGeom>
          <a:noFill/>
        </p:spPr>
        <p:txBody>
          <a:bodyPr wrap="square" lIns="0" rIns="0" tIns="0" bIns="0" anchor="t">
            <a:spAutoFit/>
          </a:bodyPr>
          <a:lstStyle/>
          <a:p>
            <a:pPr algn="l">
              <a:lnSpc>
                <a:spcPts val="2005"/>
              </a:lnSpc>
              <a:spcBef>
                <a:spcPts val="0"/>
              </a:spcBef>
              <a:spcAft>
                <a:spcPts val="0"/>
              </a:spcAft>
              <a:defRPr sz="1700" b="0">
                <a:solidFill>
                  <a:srgbClr val="16354A"/>
                </a:solidFill>
                <a:latin typeface="FreeSans"/>
              </a:defRPr>
            </a:pPr>
            <a:r>
              <a:t>sᵢⱼₕ = qᵢₕᵀ kⱼₕ / √32 + bᵢⱼₕ;    αᵢⱼₕ = softmaxⱼ∈N(i)(sᵢⱼₕ)</a:t>
            </a:r>
          </a:p>
        </p:txBody>
      </p:sp>
      <p:sp>
        <p:nvSpPr>
          <p:cNvPr id="14" name="TextBox 13"/>
          <p:cNvSpPr txBox="1"/>
          <p:nvPr/>
        </p:nvSpPr>
        <p:spPr>
          <a:xfrm>
            <a:off x="658368" y="3950208"/>
            <a:ext cx="7598664" cy="283464"/>
          </a:xfrm>
          <a:prstGeom prst="rect">
            <a:avLst/>
          </a:prstGeom>
          <a:noFill/>
        </p:spPr>
        <p:txBody>
          <a:bodyPr wrap="square" lIns="0" rIns="0" tIns="0" bIns="0" anchor="t">
            <a:spAutoFit/>
          </a:bodyPr>
          <a:lstStyle/>
          <a:p>
            <a:pPr algn="l">
              <a:lnSpc>
                <a:spcPts val="1770"/>
              </a:lnSpc>
              <a:spcBef>
                <a:spcPts val="0"/>
              </a:spcBef>
              <a:spcAft>
                <a:spcPts val="0"/>
              </a:spcAft>
              <a:defRPr sz="1500" b="0">
                <a:solidFill>
                  <a:srgbClr val="526470"/>
                </a:solidFill>
                <a:latin typeface="FreeSans"/>
              </a:defRPr>
            </a:pPr>
            <a:r>
              <a:t>zᵢ = concatₕ [Σⱼ∈N(i) αᵢⱼₕ vⱼₕ]</a:t>
            </a:r>
          </a:p>
        </p:txBody>
      </p:sp>
      <p:sp>
        <p:nvSpPr>
          <p:cNvPr id="15" name="Rounded Rectangle 14"/>
          <p:cNvSpPr/>
          <p:nvPr/>
        </p:nvSpPr>
        <p:spPr>
          <a:xfrm>
            <a:off x="457200" y="4553712"/>
            <a:ext cx="8001000" cy="1298448"/>
          </a:xfrm>
          <a:prstGeom prst="roundRect">
            <a:avLst>
              <a:gd name="adj" fmla="val 8000"/>
            </a:avLst>
          </a:prstGeom>
          <a:solidFill>
            <a:srgbClr val="EAF3F8"/>
          </a:solidFill>
          <a:ln w="12700">
            <a:solidFill>
              <a:srgbClr val="B9C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4672584"/>
            <a:ext cx="7598664" cy="292608"/>
          </a:xfrm>
          <a:prstGeom prst="rect">
            <a:avLst/>
          </a:prstGeom>
          <a:noFill/>
        </p:spPr>
        <p:txBody>
          <a:bodyPr wrap="square" lIns="0" rIns="0" tIns="0" bIns="0" anchor="t">
            <a:spAutoFit/>
          </a:bodyPr>
          <a:lstStyle/>
          <a:p>
            <a:pPr algn="l">
              <a:lnSpc>
                <a:spcPts val="1888"/>
              </a:lnSpc>
              <a:spcBef>
                <a:spcPts val="0"/>
              </a:spcBef>
              <a:spcAft>
                <a:spcPts val="0"/>
              </a:spcAft>
              <a:defRPr sz="1600" b="1">
                <a:solidFill>
                  <a:srgbClr val="16354A"/>
                </a:solidFill>
                <a:latin typeface="FreeSans"/>
              </a:defRPr>
            </a:pPr>
            <a:r>
              <a:t>3  Residual update and feed-forward network</a:t>
            </a:r>
          </a:p>
        </p:txBody>
      </p:sp>
      <p:sp>
        <p:nvSpPr>
          <p:cNvPr id="17" name="TextBox 16"/>
          <p:cNvSpPr txBox="1"/>
          <p:nvPr/>
        </p:nvSpPr>
        <p:spPr>
          <a:xfrm>
            <a:off x="658368" y="5056632"/>
            <a:ext cx="7598664" cy="329184"/>
          </a:xfrm>
          <a:prstGeom prst="rect">
            <a:avLst/>
          </a:prstGeom>
          <a:noFill/>
        </p:spPr>
        <p:txBody>
          <a:bodyPr wrap="square" lIns="0" rIns="0" tIns="0" bIns="0" anchor="t">
            <a:spAutoFit/>
          </a:bodyPr>
          <a:lstStyle/>
          <a:p>
            <a:pPr algn="l">
              <a:lnSpc>
                <a:spcPts val="2124"/>
              </a:lnSpc>
              <a:spcBef>
                <a:spcPts val="0"/>
              </a:spcBef>
              <a:spcAft>
                <a:spcPts val="0"/>
              </a:spcAft>
              <a:defRPr sz="1800" b="0">
                <a:solidFill>
                  <a:srgbClr val="16354A"/>
                </a:solidFill>
                <a:latin typeface="FreeSans"/>
              </a:defRPr>
            </a:pPr>
            <a:r>
              <a:t>rᵢ = hᵢ + Dropout(WO zᵢ)</a:t>
            </a:r>
          </a:p>
        </p:txBody>
      </p:sp>
      <p:sp>
        <p:nvSpPr>
          <p:cNvPr id="18" name="TextBox 17"/>
          <p:cNvSpPr txBox="1"/>
          <p:nvPr/>
        </p:nvSpPr>
        <p:spPr>
          <a:xfrm>
            <a:off x="658368" y="5458968"/>
            <a:ext cx="7598664" cy="283464"/>
          </a:xfrm>
          <a:prstGeom prst="rect">
            <a:avLst/>
          </a:prstGeom>
          <a:noFill/>
        </p:spPr>
        <p:txBody>
          <a:bodyPr wrap="square" lIns="0" rIns="0" tIns="0" bIns="0" anchor="t">
            <a:spAutoFit/>
          </a:bodyPr>
          <a:lstStyle/>
          <a:p>
            <a:pPr algn="l">
              <a:lnSpc>
                <a:spcPts val="1770"/>
              </a:lnSpc>
              <a:spcBef>
                <a:spcPts val="0"/>
              </a:spcBef>
              <a:spcAft>
                <a:spcPts val="0"/>
              </a:spcAft>
              <a:defRPr sz="1500" b="0">
                <a:solidFill>
                  <a:srgbClr val="526470"/>
                </a:solidFill>
                <a:latin typeface="FreeSans"/>
              </a:defRPr>
            </a:pPr>
            <a:r>
              <a:t>hᵢ(next) = rᵢ + Dropout[FFN(LN(rᵢ))]     •     FFN: 256 → 1,024 → 256</a:t>
            </a:r>
          </a:p>
        </p:txBody>
      </p:sp>
      <p:sp>
        <p:nvSpPr>
          <p:cNvPr id="19" name="Rounded Rectangle 18"/>
          <p:cNvSpPr/>
          <p:nvPr/>
        </p:nvSpPr>
        <p:spPr>
          <a:xfrm>
            <a:off x="8759952" y="1627632"/>
            <a:ext cx="2971800" cy="2697480"/>
          </a:xfrm>
          <a:prstGeom prst="roundRect">
            <a:avLst>
              <a:gd name="adj" fmla="val 8000"/>
            </a:avLst>
          </a:prstGeom>
          <a:solidFill>
            <a:srgbClr val="E8F5F2"/>
          </a:solidFill>
          <a:ln w="12700">
            <a:solidFill>
              <a:srgbClr val="218F8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42832" y="1801368"/>
            <a:ext cx="2606040" cy="320040"/>
          </a:xfrm>
          <a:prstGeom prst="rect">
            <a:avLst/>
          </a:prstGeom>
          <a:noFill/>
        </p:spPr>
        <p:txBody>
          <a:bodyPr wrap="square" lIns="0" rIns="0" tIns="0" bIns="0" anchor="t">
            <a:spAutoFit/>
          </a:bodyPr>
          <a:lstStyle/>
          <a:p>
            <a:pPr algn="l">
              <a:lnSpc>
                <a:spcPts val="2124"/>
              </a:lnSpc>
              <a:spcBef>
                <a:spcPts val="0"/>
              </a:spcBef>
              <a:spcAft>
                <a:spcPts val="0"/>
              </a:spcAft>
              <a:defRPr sz="1800" b="1">
                <a:solidFill>
                  <a:srgbClr val="16354A"/>
                </a:solidFill>
                <a:latin typeface="FreeSans"/>
              </a:defRPr>
            </a:pPr>
            <a:r>
              <a:t>Geometry branch</a:t>
            </a:r>
          </a:p>
        </p:txBody>
      </p:sp>
      <p:sp>
        <p:nvSpPr>
          <p:cNvPr id="21" name="TextBox 20"/>
          <p:cNvSpPr txBox="1"/>
          <p:nvPr/>
        </p:nvSpPr>
        <p:spPr>
          <a:xfrm>
            <a:off x="8942832" y="2249424"/>
            <a:ext cx="2606040" cy="411480"/>
          </a:xfrm>
          <a:prstGeom prst="rect">
            <a:avLst/>
          </a:prstGeom>
          <a:noFill/>
        </p:spPr>
        <p:txBody>
          <a:bodyPr wrap="square" lIns="0" rIns="0" tIns="0" bIns="0" anchor="t">
            <a:spAutoFit/>
          </a:bodyPr>
          <a:lstStyle/>
          <a:p>
            <a:pPr algn="l">
              <a:lnSpc>
                <a:spcPts val="2713"/>
              </a:lnSpc>
              <a:spcBef>
                <a:spcPts val="0"/>
              </a:spcBef>
              <a:spcAft>
                <a:spcPts val="0"/>
              </a:spcAft>
              <a:defRPr sz="2300" b="0">
                <a:solidFill>
                  <a:srgbClr val="16354A"/>
                </a:solidFill>
                <a:latin typeface="FreeSans"/>
              </a:defRPr>
            </a:pPr>
            <a:r>
              <a:t>ρᵢⱼ ∈ ℝ⁷⁰</a:t>
            </a:r>
          </a:p>
        </p:txBody>
      </p:sp>
      <p:sp>
        <p:nvSpPr>
          <p:cNvPr id="22" name="TextBox 21"/>
          <p:cNvSpPr txBox="1"/>
          <p:nvPr/>
        </p:nvSpPr>
        <p:spPr>
          <a:xfrm>
            <a:off x="8942832" y="2779776"/>
            <a:ext cx="2606040" cy="457200"/>
          </a:xfrm>
          <a:prstGeom prst="rect">
            <a:avLst/>
          </a:prstGeom>
          <a:noFill/>
        </p:spPr>
        <p:txBody>
          <a:bodyPr wrap="square" lIns="0" rIns="0" tIns="0" bIns="0" anchor="t">
            <a:spAutoFit/>
          </a:bodyPr>
          <a:lstStyle/>
          <a:p>
            <a:pPr algn="l">
              <a:lnSpc>
                <a:spcPts val="1652"/>
              </a:lnSpc>
              <a:spcBef>
                <a:spcPts val="0"/>
              </a:spcBef>
              <a:spcAft>
                <a:spcPts val="0"/>
              </a:spcAft>
              <a:defRPr sz="1400" b="0">
                <a:solidFill>
                  <a:srgbClr val="526470"/>
                </a:solidFill>
                <a:latin typeface="FreeSans"/>
              </a:defRPr>
            </a:pPr>
            <a:r>
              <a:t>70 → 128 → 8</a:t>
            </a:r>
          </a:p>
          <a:p>
            <a:pPr algn="l">
              <a:lnSpc>
                <a:spcPts val="1652"/>
              </a:lnSpc>
              <a:spcBef>
                <a:spcPts val="0"/>
              </a:spcBef>
              <a:spcAft>
                <a:spcPts val="0"/>
              </a:spcAft>
              <a:defRPr sz="1400" b="0">
                <a:solidFill>
                  <a:srgbClr val="526470"/>
                </a:solidFill>
                <a:latin typeface="FreeSans"/>
              </a:defRPr>
            </a:pPr>
            <a:r>
              <a:t>Linear · LN · GELU · Linear</a:t>
            </a:r>
          </a:p>
        </p:txBody>
      </p:sp>
      <p:sp>
        <p:nvSpPr>
          <p:cNvPr id="23" name="TextBox 22"/>
          <p:cNvSpPr txBox="1"/>
          <p:nvPr/>
        </p:nvSpPr>
        <p:spPr>
          <a:xfrm>
            <a:off x="8942832" y="3493008"/>
            <a:ext cx="2606040" cy="530352"/>
          </a:xfrm>
          <a:prstGeom prst="rect">
            <a:avLst/>
          </a:prstGeom>
          <a:noFill/>
        </p:spPr>
        <p:txBody>
          <a:bodyPr wrap="square" lIns="0" rIns="0" tIns="0" bIns="0" anchor="t">
            <a:spAutoFit/>
          </a:bodyPr>
          <a:lstStyle/>
          <a:p>
            <a:pPr algn="l">
              <a:lnSpc>
                <a:spcPts val="2005"/>
              </a:lnSpc>
              <a:spcBef>
                <a:spcPts val="0"/>
              </a:spcBef>
              <a:spcAft>
                <a:spcPts val="0"/>
              </a:spcAft>
              <a:defRPr sz="1700" b="0">
                <a:solidFill>
                  <a:srgbClr val="16354A"/>
                </a:solidFill>
                <a:latin typeface="FreeSans"/>
              </a:defRPr>
            </a:pPr>
            <a:r>
              <a:t>bᵢⱼₕ = fₕ(ρᵢⱼ)</a:t>
            </a:r>
          </a:p>
          <a:p>
            <a:pPr algn="l">
              <a:lnSpc>
                <a:spcPts val="2005"/>
              </a:lnSpc>
              <a:spcBef>
                <a:spcPts val="0"/>
              </a:spcBef>
              <a:spcAft>
                <a:spcPts val="0"/>
              </a:spcAft>
              <a:defRPr sz="1700" b="0">
                <a:solidFill>
                  <a:srgbClr val="16354A"/>
                </a:solidFill>
                <a:latin typeface="FreeSans"/>
              </a:defRPr>
            </a:pPr>
            <a:r>
              <a:t>One scalar bias per head</a:t>
            </a:r>
          </a:p>
        </p:txBody>
      </p:sp>
      <p:cxnSp>
        <p:nvCxnSpPr>
          <p:cNvPr id="24" name="Connector 23"/>
          <p:cNvCxnSpPr/>
          <p:nvPr/>
        </p:nvCxnSpPr>
        <p:spPr>
          <a:xfrm flipH="1">
            <a:off x="8458200" y="3694176"/>
            <a:ext cx="301752" cy="0"/>
          </a:xfrm>
          <a:prstGeom prst="line">
            <a:avLst/>
          </a:prstGeom>
          <a:ln w="20320">
            <a:solidFill>
              <a:srgbClr val="218F8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759952" y="4553712"/>
            <a:ext cx="2971800" cy="1298448"/>
          </a:xfrm>
          <a:prstGeom prst="roundRect">
            <a:avLst>
              <a:gd name="adj" fmla="val 8000"/>
            </a:avLst>
          </a:prstGeom>
          <a:solidFill>
            <a:srgbClr val="F5F8FA"/>
          </a:solidFill>
          <a:ln w="12700">
            <a:solidFill>
              <a:srgbClr val="B9CC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42832" y="4700016"/>
            <a:ext cx="2606040" cy="292608"/>
          </a:xfrm>
          <a:prstGeom prst="rect">
            <a:avLst/>
          </a:prstGeom>
          <a:noFill/>
        </p:spPr>
        <p:txBody>
          <a:bodyPr wrap="square" lIns="0" rIns="0" tIns="0" bIns="0" anchor="t">
            <a:spAutoFit/>
          </a:bodyPr>
          <a:lstStyle/>
          <a:p>
            <a:pPr algn="l">
              <a:lnSpc>
                <a:spcPts val="1652"/>
              </a:lnSpc>
              <a:spcBef>
                <a:spcPts val="0"/>
              </a:spcBef>
              <a:spcAft>
                <a:spcPts val="0"/>
              </a:spcAft>
              <a:defRPr sz="1400" b="1">
                <a:solidFill>
                  <a:srgbClr val="16354A"/>
                </a:solidFill>
                <a:latin typeface="FreeSans"/>
              </a:defRPr>
            </a:pPr>
            <a:r>
              <a:t>4 independent graph blocks</a:t>
            </a:r>
          </a:p>
        </p:txBody>
      </p:sp>
      <p:sp>
        <p:nvSpPr>
          <p:cNvPr id="27" name="TextBox 26"/>
          <p:cNvSpPr txBox="1"/>
          <p:nvPr/>
        </p:nvSpPr>
        <p:spPr>
          <a:xfrm>
            <a:off x="8942832" y="5157216"/>
            <a:ext cx="2606040" cy="640080"/>
          </a:xfrm>
          <a:prstGeom prst="rect">
            <a:avLst/>
          </a:prstGeom>
          <a:noFill/>
        </p:spPr>
        <p:txBody>
          <a:bodyPr wrap="square" lIns="0" rIns="0" tIns="0" bIns="0" anchor="t">
            <a:spAutoFit/>
          </a:bodyPr>
          <a:lstStyle/>
          <a:p>
            <a:pPr algn="l">
              <a:lnSpc>
                <a:spcPts val="1593"/>
              </a:lnSpc>
              <a:spcBef>
                <a:spcPts val="0"/>
              </a:spcBef>
              <a:spcAft>
                <a:spcPts val="0"/>
              </a:spcAft>
              <a:defRPr sz="1350" b="0">
                <a:solidFill>
                  <a:srgbClr val="526470"/>
                </a:solidFill>
                <a:latin typeface="FreeSans"/>
              </a:defRPr>
            </a:pPr>
            <a:r>
              <a:t>No implicit self edges</a:t>
            </a:r>
          </a:p>
          <a:p>
            <a:pPr algn="l">
              <a:lnSpc>
                <a:spcPts val="1593"/>
              </a:lnSpc>
              <a:spcBef>
                <a:spcPts val="0"/>
              </a:spcBef>
              <a:spcAft>
                <a:spcPts val="0"/>
              </a:spcAft>
              <a:defRPr sz="1350" b="0">
                <a:solidFill>
                  <a:srgbClr val="526470"/>
                </a:solidFill>
                <a:latin typeface="FreeSans"/>
              </a:defRPr>
            </a:pPr>
            <a:r>
              <a:t>Geometry enters scores only</a:t>
            </a:r>
          </a:p>
          <a:p>
            <a:pPr algn="l">
              <a:lnSpc>
                <a:spcPts val="1593"/>
              </a:lnSpc>
              <a:spcBef>
                <a:spcPts val="0"/>
              </a:spcBef>
              <a:spcAft>
                <a:spcPts val="0"/>
              </a:spcAft>
              <a:defRPr sz="1350" b="0">
                <a:solidFill>
                  <a:srgbClr val="526470"/>
                </a:solidFill>
                <a:latin typeface="FreeSans"/>
              </a:defRPr>
            </a:pPr>
            <a:r>
              <a:t>Residual/FFN dropout: 0.1</a:t>
            </a:r>
          </a:p>
        </p:txBody>
      </p:sp>
      <p:sp>
        <p:nvSpPr>
          <p:cNvPr id="28" name="TextBox 27"/>
          <p:cNvSpPr txBox="1"/>
          <p:nvPr/>
        </p:nvSpPr>
        <p:spPr>
          <a:xfrm>
            <a:off x="502920" y="6108192"/>
            <a:ext cx="11201400" cy="274320"/>
          </a:xfrm>
          <a:prstGeom prst="rect">
            <a:avLst/>
          </a:prstGeom>
          <a:noFill/>
        </p:spPr>
        <p:txBody>
          <a:bodyPr wrap="square" lIns="0" rIns="0" tIns="0" bIns="0" anchor="t">
            <a:spAutoFit/>
          </a:bodyPr>
          <a:lstStyle/>
          <a:p>
            <a:pPr algn="l">
              <a:lnSpc>
                <a:spcPts val="1297"/>
              </a:lnSpc>
              <a:spcBef>
                <a:spcPts val="0"/>
              </a:spcBef>
              <a:spcAft>
                <a:spcPts val="0"/>
              </a:spcAft>
              <a:defRPr sz="1100" b="0">
                <a:solidFill>
                  <a:srgbClr val="526470"/>
                </a:solidFill>
                <a:latin typeface="FreeSans"/>
              </a:defRPr>
            </a:pPr>
            <a:r>
              <a:t>Current configuration: attention dropout = 0; residual and FFN dropout = 0.1. Geometry bias is zero at initialization.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92608"/>
            <a:ext cx="11247120" cy="502920"/>
          </a:xfrm>
          <a:prstGeom prst="rect">
            <a:avLst/>
          </a:prstGeom>
          <a:noFill/>
        </p:spPr>
        <p:txBody>
          <a:bodyPr wrap="square" lIns="0" rIns="0" tIns="0" bIns="0" anchor="t">
            <a:spAutoFit/>
          </a:bodyPr>
          <a:lstStyle/>
          <a:p>
            <a:pPr algn="l">
              <a:lnSpc>
                <a:spcPts val="3422"/>
              </a:lnSpc>
              <a:spcBef>
                <a:spcPts val="0"/>
              </a:spcBef>
              <a:spcAft>
                <a:spcPts val="0"/>
              </a:spcAft>
              <a:defRPr sz="2900" b="1">
                <a:solidFill>
                  <a:srgbClr val="16354A"/>
                </a:solidFill>
                <a:latin typeface="NanumGothic"/>
              </a:defRPr>
            </a:pPr>
            <a:r>
              <a:t>BAGM: 조직 그래프에서 마스킹된 발현 예측</a:t>
            </a:r>
          </a:p>
        </p:txBody>
      </p:sp>
      <p:sp>
        <p:nvSpPr>
          <p:cNvPr id="3" name="TextBox 2"/>
          <p:cNvSpPr txBox="1"/>
          <p:nvPr/>
        </p:nvSpPr>
        <p:spPr>
          <a:xfrm>
            <a:off x="475488" y="877824"/>
            <a:ext cx="11109960" cy="365760"/>
          </a:xfrm>
          <a:prstGeom prst="rect">
            <a:avLst/>
          </a:prstGeom>
          <a:noFill/>
        </p:spPr>
        <p:txBody>
          <a:bodyPr wrap="square" lIns="0" rIns="0" tIns="0" bIns="0" anchor="t">
            <a:spAutoFit/>
          </a:bodyPr>
          <a:lstStyle/>
          <a:p>
            <a:pPr algn="l">
              <a:lnSpc>
                <a:spcPts val="1652"/>
              </a:lnSpc>
              <a:spcBef>
                <a:spcPts val="0"/>
              </a:spcBef>
              <a:spcAft>
                <a:spcPts val="0"/>
              </a:spcAft>
              <a:defRPr sz="1400" b="0">
                <a:solidFill>
                  <a:srgbClr val="526470"/>
                </a:solidFill>
                <a:latin typeface="NanumGothic"/>
              </a:defRPr>
            </a:pPr>
            <a:r>
              <a:t>현재 모델: 원형 Relative-Geometric QKV  |  SO_1 + SO_2 통합 데이터</a:t>
            </a:r>
          </a:p>
        </p:txBody>
      </p:sp>
      <p:cxnSp>
        <p:nvCxnSpPr>
          <p:cNvPr id="4" name="Connector 3"/>
          <p:cNvCxnSpPr/>
          <p:nvPr/>
        </p:nvCxnSpPr>
        <p:spPr>
          <a:xfrm>
            <a:off x="475488" y="1307592"/>
            <a:ext cx="11247120" cy="0"/>
          </a:xfrm>
          <a:prstGeom prst="line">
            <a:avLst/>
          </a:prstGeom>
          <a:ln w="12700">
            <a:solidFill>
              <a:srgbClr val="B9CCD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75488" y="6519672"/>
            <a:ext cx="10607040" cy="182880"/>
          </a:xfrm>
          <a:prstGeom prst="rect">
            <a:avLst/>
          </a:prstGeom>
          <a:noFill/>
        </p:spPr>
        <p:txBody>
          <a:bodyPr wrap="square" lIns="0" rIns="0" tIns="0" bIns="0" anchor="t">
            <a:spAutoFit/>
          </a:bodyPr>
          <a:lstStyle/>
          <a:p>
            <a:pPr algn="l">
              <a:lnSpc>
                <a:spcPts val="1062"/>
              </a:lnSpc>
              <a:spcBef>
                <a:spcPts val="0"/>
              </a:spcBef>
              <a:spcAft>
                <a:spcPts val="0"/>
              </a:spcAft>
              <a:defRPr sz="900" b="0">
                <a:solidFill>
                  <a:srgbClr val="526470"/>
                </a:solidFill>
                <a:latin typeface="NanumGothic"/>
              </a:defRPr>
            </a:pPr>
            <a:r>
              <a:t>BAGM  •  Editable architecture draft  •  16 October 2026</a:t>
            </a:r>
          </a:p>
        </p:txBody>
      </p:sp>
      <p:sp>
        <p:nvSpPr>
          <p:cNvPr id="6" name="TextBox 5"/>
          <p:cNvSpPr txBox="1"/>
          <p:nvPr/>
        </p:nvSpPr>
        <p:spPr>
          <a:xfrm>
            <a:off x="11292840" y="6519672"/>
            <a:ext cx="411480" cy="182880"/>
          </a:xfrm>
          <a:prstGeom prst="rect">
            <a:avLst/>
          </a:prstGeom>
          <a:noFill/>
        </p:spPr>
        <p:txBody>
          <a:bodyPr wrap="square" lIns="0" rIns="0" tIns="0" bIns="0" anchor="t">
            <a:spAutoFit/>
          </a:bodyPr>
          <a:lstStyle/>
          <a:p>
            <a:pPr algn="r">
              <a:lnSpc>
                <a:spcPts val="1062"/>
              </a:lnSpc>
              <a:spcBef>
                <a:spcPts val="0"/>
              </a:spcBef>
              <a:spcAft>
                <a:spcPts val="0"/>
              </a:spcAft>
              <a:defRPr sz="900" b="0">
                <a:solidFill>
                  <a:srgbClr val="526470"/>
                </a:solidFill>
                <a:latin typeface="NanumGothic"/>
              </a:defRPr>
            </a:pPr>
            <a:r>
              <a:t>3</a:t>
            </a:r>
          </a:p>
        </p:txBody>
      </p:sp>
      <p:sp>
        <p:nvSpPr>
          <p:cNvPr id="7" name="Rounded Rectangle 6"/>
          <p:cNvSpPr/>
          <p:nvPr/>
        </p:nvSpPr>
        <p:spPr>
          <a:xfrm>
            <a:off x="4983480" y="1627632"/>
            <a:ext cx="3337560" cy="932688"/>
          </a:xfrm>
          <a:prstGeom prst="roundRect">
            <a:avLst>
              <a:gd name="adj" fmla="val 8000"/>
            </a:avLst>
          </a:prstGeom>
          <a:solidFill>
            <a:srgbClr val="E8F5F2"/>
          </a:solidFill>
          <a:ln w="12700">
            <a:solidFill>
              <a:srgbClr val="218F8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20640" y="1746504"/>
            <a:ext cx="3063240" cy="256032"/>
          </a:xfrm>
          <a:prstGeom prst="rect">
            <a:avLst/>
          </a:prstGeom>
          <a:noFill/>
        </p:spPr>
        <p:txBody>
          <a:bodyPr wrap="square" lIns="0" rIns="0" tIns="0" bIns="0" anchor="t">
            <a:spAutoFit/>
          </a:bodyPr>
          <a:lstStyle/>
          <a:p>
            <a:pPr algn="ctr">
              <a:lnSpc>
                <a:spcPts val="1770"/>
              </a:lnSpc>
              <a:spcBef>
                <a:spcPts val="0"/>
              </a:spcBef>
              <a:spcAft>
                <a:spcPts val="0"/>
              </a:spcAft>
              <a:defRPr sz="1500" b="1">
                <a:solidFill>
                  <a:srgbClr val="16354A"/>
                </a:solidFill>
                <a:latin typeface="NanumGothic"/>
              </a:defRPr>
            </a:pPr>
            <a:r>
              <a:t>공간 그래프와 상대 기하 정보</a:t>
            </a:r>
          </a:p>
        </p:txBody>
      </p:sp>
      <p:sp>
        <p:nvSpPr>
          <p:cNvPr id="9" name="TextBox 8"/>
          <p:cNvSpPr txBox="1"/>
          <p:nvPr/>
        </p:nvSpPr>
        <p:spPr>
          <a:xfrm>
            <a:off x="5102352" y="2075688"/>
            <a:ext cx="3108960" cy="393192"/>
          </a:xfrm>
          <a:prstGeom prst="rect">
            <a:avLst/>
          </a:prstGeom>
          <a:noFill/>
        </p:spPr>
        <p:txBody>
          <a:bodyPr wrap="square" lIns="0" rIns="0" tIns="0" bIns="0" anchor="t">
            <a:spAutoFit/>
          </a:bodyPr>
          <a:lstStyle/>
          <a:p>
            <a:pPr algn="ctr">
              <a:lnSpc>
                <a:spcPts val="1451"/>
              </a:lnSpc>
              <a:spcBef>
                <a:spcPts val="0"/>
              </a:spcBef>
              <a:spcAft>
                <a:spcPts val="0"/>
              </a:spcAft>
              <a:defRPr sz="1230" b="0">
                <a:solidFill>
                  <a:srgbClr val="526470"/>
                </a:solidFill>
                <a:latin typeface="NanumGothic"/>
              </a:defRPr>
            </a:pPr>
            <a:r>
              <a:t>코어별 반경 층화 k200 / 500 um</a:t>
            </a:r>
          </a:p>
          <a:p>
            <a:pPr algn="ctr">
              <a:lnSpc>
                <a:spcPts val="1451"/>
              </a:lnSpc>
              <a:spcBef>
                <a:spcPts val="0"/>
              </a:spcBef>
              <a:spcAft>
                <a:spcPts val="0"/>
              </a:spcAft>
              <a:defRPr sz="1230" b="0">
                <a:solidFill>
                  <a:srgbClr val="526470"/>
                </a:solidFill>
                <a:latin typeface="NanumGothic"/>
              </a:defRPr>
            </a:pPr>
            <a:r>
              <a:t>70차원 엣지 특성 → 헤드별 로짓 편향</a:t>
            </a:r>
          </a:p>
        </p:txBody>
      </p:sp>
      <p:cxnSp>
        <p:nvCxnSpPr>
          <p:cNvPr id="10" name="Connector 9"/>
          <p:cNvCxnSpPr/>
          <p:nvPr/>
        </p:nvCxnSpPr>
        <p:spPr>
          <a:xfrm>
            <a:off x="6652260" y="2560320"/>
            <a:ext cx="0" cy="384048"/>
          </a:xfrm>
          <a:prstGeom prst="line">
            <a:avLst/>
          </a:prstGeom>
          <a:ln w="20320">
            <a:solidFill>
              <a:srgbClr val="218F8D"/>
            </a:solidFill>
            <a:tailEnd type="triangle" w="sm" len="sm"/>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57200" y="2944368"/>
            <a:ext cx="2423160" cy="1344168"/>
          </a:xfrm>
          <a:prstGeom prst="roundRect">
            <a:avLst>
              <a:gd name="adj" fmla="val 8000"/>
            </a:avLst>
          </a:prstGeom>
          <a:solidFill>
            <a:srgbClr val="EAF3F8"/>
          </a:solidFill>
          <a:ln w="12700">
            <a:solidFill>
              <a:srgbClr val="247C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118104"/>
            <a:ext cx="2240279" cy="384048"/>
          </a:xfrm>
          <a:prstGeom prst="rect">
            <a:avLst/>
          </a:prstGeom>
          <a:noFill/>
        </p:spPr>
        <p:txBody>
          <a:bodyPr wrap="square" lIns="0" rIns="0" tIns="0" bIns="0" anchor="t">
            <a:spAutoFit/>
          </a:bodyPr>
          <a:lstStyle/>
          <a:p>
            <a:pPr algn="ctr">
              <a:lnSpc>
                <a:spcPts val="2005"/>
              </a:lnSpc>
              <a:spcBef>
                <a:spcPts val="0"/>
              </a:spcBef>
              <a:spcAft>
                <a:spcPts val="0"/>
              </a:spcAft>
              <a:defRPr sz="1700" b="1">
                <a:solidFill>
                  <a:srgbClr val="16354A"/>
                </a:solidFill>
                <a:latin typeface="NanumGothic"/>
              </a:defRPr>
            </a:pPr>
            <a:r>
              <a:t>마스킹된 세포 입력</a:t>
            </a:r>
          </a:p>
        </p:txBody>
      </p:sp>
      <p:sp>
        <p:nvSpPr>
          <p:cNvPr id="13" name="TextBox 12"/>
          <p:cNvSpPr txBox="1"/>
          <p:nvPr/>
        </p:nvSpPr>
        <p:spPr>
          <a:xfrm>
            <a:off x="548640" y="3657600"/>
            <a:ext cx="2240279" cy="548640"/>
          </a:xfrm>
          <a:prstGeom prst="rect">
            <a:avLst/>
          </a:prstGeom>
          <a:noFill/>
        </p:spPr>
        <p:txBody>
          <a:bodyPr wrap="square" lIns="0" rIns="0" tIns="0" bIns="0" anchor="t">
            <a:spAutoFit/>
          </a:bodyPr>
          <a:lstStyle/>
          <a:p>
            <a:pPr algn="ctr">
              <a:lnSpc>
                <a:spcPts val="1297"/>
              </a:lnSpc>
              <a:spcBef>
                <a:spcPts val="0"/>
              </a:spcBef>
              <a:spcAft>
                <a:spcPts val="0"/>
              </a:spcAft>
              <a:defRPr sz="1100" b="0">
                <a:solidFill>
                  <a:srgbClr val="526470"/>
                </a:solidFill>
                <a:latin typeface="NanumGothic"/>
              </a:defRPr>
            </a:pPr>
            <a:r>
              <a:t>관측 유전자만으로 Pearson 계산</a:t>
            </a:r>
          </a:p>
          <a:p>
            <a:pPr algn="ctr">
              <a:lnSpc>
                <a:spcPts val="1297"/>
              </a:lnSpc>
              <a:spcBef>
                <a:spcPts val="0"/>
              </a:spcBef>
              <a:spcAft>
                <a:spcPts val="0"/>
              </a:spcAft>
              <a:defRPr sz="1100" b="0">
                <a:solidFill>
                  <a:srgbClr val="526470"/>
                </a:solidFill>
                <a:latin typeface="NanumGothic"/>
              </a:defRPr>
            </a:pPr>
            <a:r>
              <a:t>명시적 마스크 + 형태 정보 22개</a:t>
            </a:r>
          </a:p>
        </p:txBody>
      </p:sp>
      <p:sp>
        <p:nvSpPr>
          <p:cNvPr id="14" name="Rounded Rectangle 13"/>
          <p:cNvSpPr/>
          <p:nvPr/>
        </p:nvSpPr>
        <p:spPr>
          <a:xfrm>
            <a:off x="3218688" y="2944368"/>
            <a:ext cx="1417320" cy="1344168"/>
          </a:xfrm>
          <a:prstGeom prst="roundRect">
            <a:avLst>
              <a:gd name="adj" fmla="val 8000"/>
            </a:avLst>
          </a:prstGeom>
          <a:solidFill>
            <a:srgbClr val="EAF3F8"/>
          </a:solidFill>
          <a:ln w="12700">
            <a:solidFill>
              <a:srgbClr val="247C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10128" y="3118104"/>
            <a:ext cx="1234440" cy="384048"/>
          </a:xfrm>
          <a:prstGeom prst="rect">
            <a:avLst/>
          </a:prstGeom>
          <a:noFill/>
        </p:spPr>
        <p:txBody>
          <a:bodyPr wrap="square" lIns="0" rIns="0" tIns="0" bIns="0" anchor="t">
            <a:spAutoFit/>
          </a:bodyPr>
          <a:lstStyle/>
          <a:p>
            <a:pPr algn="ctr">
              <a:lnSpc>
                <a:spcPts val="1652"/>
              </a:lnSpc>
              <a:spcBef>
                <a:spcPts val="0"/>
              </a:spcBef>
              <a:spcAft>
                <a:spcPts val="0"/>
              </a:spcAft>
              <a:defRPr sz="1400" b="1">
                <a:solidFill>
                  <a:srgbClr val="16354A"/>
                </a:solidFill>
                <a:latin typeface="NanumGothic"/>
              </a:defRPr>
            </a:pPr>
            <a:r>
              <a:t>노드 인코더</a:t>
            </a:r>
          </a:p>
        </p:txBody>
      </p:sp>
      <p:sp>
        <p:nvSpPr>
          <p:cNvPr id="16" name="TextBox 15"/>
          <p:cNvSpPr txBox="1"/>
          <p:nvPr/>
        </p:nvSpPr>
        <p:spPr>
          <a:xfrm>
            <a:off x="3310128" y="3657600"/>
            <a:ext cx="1234440" cy="548640"/>
          </a:xfrm>
          <a:prstGeom prst="rect">
            <a:avLst/>
          </a:prstGeom>
          <a:noFill/>
        </p:spPr>
        <p:txBody>
          <a:bodyPr wrap="square" lIns="0" rIns="0" tIns="0" bIns="0" anchor="t">
            <a:spAutoFit/>
          </a:bodyPr>
          <a:lstStyle/>
          <a:p>
            <a:pPr algn="ctr">
              <a:lnSpc>
                <a:spcPts val="1416"/>
              </a:lnSpc>
              <a:spcBef>
                <a:spcPts val="0"/>
              </a:spcBef>
              <a:spcAft>
                <a:spcPts val="0"/>
              </a:spcAft>
              <a:defRPr sz="1200" b="0">
                <a:solidFill>
                  <a:srgbClr val="526470"/>
                </a:solidFill>
                <a:latin typeface="NanumGothic"/>
              </a:defRPr>
            </a:pPr>
            <a:r>
              <a:t>공유 투영 + 정규화</a:t>
            </a:r>
          </a:p>
          <a:p>
            <a:pPr algn="ctr">
              <a:lnSpc>
                <a:spcPts val="1416"/>
              </a:lnSpc>
              <a:spcBef>
                <a:spcPts val="0"/>
              </a:spcBef>
              <a:spcAft>
                <a:spcPts val="0"/>
              </a:spcAft>
              <a:defRPr sz="1200" b="0">
                <a:solidFill>
                  <a:srgbClr val="526470"/>
                </a:solidFill>
                <a:latin typeface="NanumGothic"/>
              </a:defRPr>
            </a:pPr>
            <a:r>
              <a:t>h0: 256차원</a:t>
            </a:r>
          </a:p>
        </p:txBody>
      </p:sp>
      <p:sp>
        <p:nvSpPr>
          <p:cNvPr id="17" name="Rounded Rectangle 16"/>
          <p:cNvSpPr/>
          <p:nvPr/>
        </p:nvSpPr>
        <p:spPr>
          <a:xfrm>
            <a:off x="4983480" y="2944368"/>
            <a:ext cx="3337560" cy="1344168"/>
          </a:xfrm>
          <a:prstGeom prst="roundRect">
            <a:avLst>
              <a:gd name="adj" fmla="val 8000"/>
            </a:avLst>
          </a:prstGeom>
          <a:solidFill>
            <a:srgbClr val="EAF3F8"/>
          </a:solidFill>
          <a:ln w="12700">
            <a:solidFill>
              <a:srgbClr val="247C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74920" y="3118104"/>
            <a:ext cx="3154679" cy="384048"/>
          </a:xfrm>
          <a:prstGeom prst="rect">
            <a:avLst/>
          </a:prstGeom>
          <a:noFill/>
        </p:spPr>
        <p:txBody>
          <a:bodyPr wrap="square" lIns="0" rIns="0" tIns="0" bIns="0" anchor="t">
            <a:spAutoFit/>
          </a:bodyPr>
          <a:lstStyle/>
          <a:p>
            <a:pPr algn="ctr">
              <a:lnSpc>
                <a:spcPts val="2005"/>
              </a:lnSpc>
              <a:spcBef>
                <a:spcPts val="0"/>
              </a:spcBef>
              <a:spcAft>
                <a:spcPts val="0"/>
              </a:spcAft>
              <a:defRPr sz="1700" b="1">
                <a:solidFill>
                  <a:srgbClr val="16354A"/>
                </a:solidFill>
                <a:latin typeface="NanumGothic"/>
              </a:defRPr>
            </a:pPr>
            <a:r>
              <a:t>그래프 블록 × 4</a:t>
            </a:r>
          </a:p>
        </p:txBody>
      </p:sp>
      <p:sp>
        <p:nvSpPr>
          <p:cNvPr id="19" name="TextBox 18"/>
          <p:cNvSpPr txBox="1"/>
          <p:nvPr/>
        </p:nvSpPr>
        <p:spPr>
          <a:xfrm>
            <a:off x="5074920" y="3657600"/>
            <a:ext cx="3154679" cy="548640"/>
          </a:xfrm>
          <a:prstGeom prst="rect">
            <a:avLst/>
          </a:prstGeom>
          <a:noFill/>
        </p:spPr>
        <p:txBody>
          <a:bodyPr wrap="square" lIns="0" rIns="0" tIns="0" bIns="0" anchor="t">
            <a:spAutoFit/>
          </a:bodyPr>
          <a:lstStyle/>
          <a:p>
            <a:pPr algn="ctr">
              <a:lnSpc>
                <a:spcPts val="1534"/>
              </a:lnSpc>
              <a:spcBef>
                <a:spcPts val="0"/>
              </a:spcBef>
              <a:spcAft>
                <a:spcPts val="0"/>
              </a:spcAft>
              <a:defRPr sz="1300" b="0">
                <a:solidFill>
                  <a:srgbClr val="526470"/>
                </a:solidFill>
                <a:latin typeface="NanumGothic"/>
              </a:defRPr>
            </a:pPr>
            <a:r>
              <a:t>서로 독립된 4개 층</a:t>
            </a:r>
          </a:p>
          <a:p>
            <a:pPr algn="ctr">
              <a:lnSpc>
                <a:spcPts val="1534"/>
              </a:lnSpc>
              <a:spcBef>
                <a:spcPts val="0"/>
              </a:spcBef>
              <a:spcAft>
                <a:spcPts val="0"/>
              </a:spcAft>
              <a:defRPr sz="1300" b="0">
                <a:solidFill>
                  <a:srgbClr val="526470"/>
                </a:solidFill>
                <a:latin typeface="NanumGothic"/>
              </a:defRPr>
            </a:pPr>
            <a:r>
              <a:t>8개 헤드 · FFN 1,024</a:t>
            </a:r>
          </a:p>
        </p:txBody>
      </p:sp>
      <p:sp>
        <p:nvSpPr>
          <p:cNvPr id="20" name="Rounded Rectangle 19"/>
          <p:cNvSpPr/>
          <p:nvPr/>
        </p:nvSpPr>
        <p:spPr>
          <a:xfrm>
            <a:off x="8686800" y="2944368"/>
            <a:ext cx="3035808" cy="1344168"/>
          </a:xfrm>
          <a:prstGeom prst="roundRect">
            <a:avLst>
              <a:gd name="adj" fmla="val 8000"/>
            </a:avLst>
          </a:prstGeom>
          <a:solidFill>
            <a:srgbClr val="E8F5F2"/>
          </a:solidFill>
          <a:ln w="12700">
            <a:solidFill>
              <a:srgbClr val="218F8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0" y="3118104"/>
            <a:ext cx="2852927" cy="384048"/>
          </a:xfrm>
          <a:prstGeom prst="rect">
            <a:avLst/>
          </a:prstGeom>
          <a:noFill/>
        </p:spPr>
        <p:txBody>
          <a:bodyPr wrap="square" lIns="0" rIns="0" tIns="0" bIns="0" anchor="t">
            <a:spAutoFit/>
          </a:bodyPr>
          <a:lstStyle/>
          <a:p>
            <a:pPr algn="ctr">
              <a:lnSpc>
                <a:spcPts val="2005"/>
              </a:lnSpc>
              <a:spcBef>
                <a:spcPts val="0"/>
              </a:spcBef>
              <a:spcAft>
                <a:spcPts val="0"/>
              </a:spcAft>
              <a:defRPr sz="1700" b="1">
                <a:solidFill>
                  <a:srgbClr val="16354A"/>
                </a:solidFill>
                <a:latin typeface="NanumGothic"/>
              </a:defRPr>
            </a:pPr>
            <a:r>
              <a:t>발현 디코더</a:t>
            </a:r>
          </a:p>
        </p:txBody>
      </p:sp>
      <p:sp>
        <p:nvSpPr>
          <p:cNvPr id="22" name="TextBox 21"/>
          <p:cNvSpPr txBox="1"/>
          <p:nvPr/>
        </p:nvSpPr>
        <p:spPr>
          <a:xfrm>
            <a:off x="8778240" y="3657600"/>
            <a:ext cx="2852927" cy="548640"/>
          </a:xfrm>
          <a:prstGeom prst="rect">
            <a:avLst/>
          </a:prstGeom>
          <a:noFill/>
        </p:spPr>
        <p:txBody>
          <a:bodyPr wrap="square" lIns="0" rIns="0" tIns="0" bIns="0" anchor="t">
            <a:spAutoFit/>
          </a:bodyPr>
          <a:lstStyle/>
          <a:p>
            <a:pPr algn="ctr">
              <a:lnSpc>
                <a:spcPts val="1416"/>
              </a:lnSpc>
              <a:spcBef>
                <a:spcPts val="0"/>
              </a:spcBef>
              <a:spcAft>
                <a:spcPts val="0"/>
              </a:spcAft>
              <a:defRPr sz="1200" b="0">
                <a:solidFill>
                  <a:srgbClr val="526470"/>
                </a:solidFill>
                <a:latin typeface="NanumGothic"/>
              </a:defRPr>
            </a:pPr>
            <a:r>
              <a:t>256 → 1,024 → 1,000</a:t>
            </a:r>
          </a:p>
          <a:p>
            <a:pPr algn="ctr">
              <a:lnSpc>
                <a:spcPts val="1416"/>
              </a:lnSpc>
              <a:spcBef>
                <a:spcPts val="0"/>
              </a:spcBef>
              <a:spcAft>
                <a:spcPts val="0"/>
              </a:spcAft>
              <a:defRPr sz="1200" b="0">
                <a:solidFill>
                  <a:srgbClr val="526470"/>
                </a:solidFill>
                <a:latin typeface="NanumGothic"/>
              </a:defRPr>
            </a:pPr>
            <a:r>
              <a:t>마스킹 위치의 Huber 손실 (delta = 1)</a:t>
            </a:r>
          </a:p>
        </p:txBody>
      </p:sp>
      <p:cxnSp>
        <p:nvCxnSpPr>
          <p:cNvPr id="23" name="Connector 22"/>
          <p:cNvCxnSpPr/>
          <p:nvPr/>
        </p:nvCxnSpPr>
        <p:spPr>
          <a:xfrm>
            <a:off x="2880360" y="3602736"/>
            <a:ext cx="338328" cy="0"/>
          </a:xfrm>
          <a:prstGeom prst="line">
            <a:avLst/>
          </a:prstGeom>
          <a:ln w="20320">
            <a:solidFill>
              <a:srgbClr val="247CB5"/>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636008" y="3602736"/>
            <a:ext cx="347472" cy="0"/>
          </a:xfrm>
          <a:prstGeom prst="line">
            <a:avLst/>
          </a:prstGeom>
          <a:ln w="20320">
            <a:solidFill>
              <a:srgbClr val="247CB5"/>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321040" y="3602736"/>
            <a:ext cx="365760" cy="0"/>
          </a:xfrm>
          <a:prstGeom prst="line">
            <a:avLst/>
          </a:prstGeom>
          <a:ln w="20320">
            <a:solidFill>
              <a:srgbClr val="247CB5"/>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02920" y="2404872"/>
            <a:ext cx="4160520" cy="384048"/>
          </a:xfrm>
          <a:prstGeom prst="rect">
            <a:avLst/>
          </a:prstGeom>
          <a:noFill/>
        </p:spPr>
        <p:txBody>
          <a:bodyPr wrap="square" lIns="0" rIns="0" tIns="0" bIns="0" anchor="t">
            <a:spAutoFit/>
          </a:bodyPr>
          <a:lstStyle/>
          <a:p>
            <a:pPr algn="l">
              <a:lnSpc>
                <a:spcPts val="1416"/>
              </a:lnSpc>
              <a:spcBef>
                <a:spcPts val="0"/>
              </a:spcBef>
              <a:spcAft>
                <a:spcPts val="0"/>
              </a:spcAft>
              <a:defRPr sz="1200" b="0">
                <a:solidFill>
                  <a:srgbClr val="526470"/>
                </a:solidFill>
                <a:latin typeface="NanumGothic"/>
              </a:defRPr>
            </a:pPr>
            <a:r>
              <a:t>세포마다 0–1,000개 유전자 마스킹</a:t>
            </a:r>
          </a:p>
        </p:txBody>
      </p:sp>
      <p:sp>
        <p:nvSpPr>
          <p:cNvPr id="27" name="TextBox 26"/>
          <p:cNvSpPr txBox="1"/>
          <p:nvPr/>
        </p:nvSpPr>
        <p:spPr>
          <a:xfrm>
            <a:off x="4892040" y="4416552"/>
            <a:ext cx="6858000" cy="274320"/>
          </a:xfrm>
          <a:prstGeom prst="rect">
            <a:avLst/>
          </a:prstGeom>
          <a:noFill/>
        </p:spPr>
        <p:txBody>
          <a:bodyPr wrap="square" lIns="0" rIns="0" tIns="0" bIns="0" anchor="t">
            <a:spAutoFit/>
          </a:bodyPr>
          <a:lstStyle/>
          <a:p>
            <a:pPr algn="l">
              <a:lnSpc>
                <a:spcPts val="1297"/>
              </a:lnSpc>
              <a:spcBef>
                <a:spcPts val="0"/>
              </a:spcBef>
              <a:spcAft>
                <a:spcPts val="0"/>
              </a:spcAft>
              <a:defRPr sz="1100" b="0">
                <a:solidFill>
                  <a:srgbClr val="526470"/>
                </a:solidFill>
                <a:latin typeface="NanumGothic"/>
              </a:defRPr>
            </a:pPr>
            <a:r>
              <a:t>자기 루프 없음: 같은 세포의 정보는 잔차 연결로 전달</a:t>
            </a:r>
          </a:p>
        </p:txBody>
      </p:sp>
      <p:cxnSp>
        <p:nvCxnSpPr>
          <p:cNvPr id="28" name="Connector 27"/>
          <p:cNvCxnSpPr/>
          <p:nvPr/>
        </p:nvCxnSpPr>
        <p:spPr>
          <a:xfrm>
            <a:off x="6652260" y="4288536"/>
            <a:ext cx="0" cy="694944"/>
          </a:xfrm>
          <a:prstGeom prst="line">
            <a:avLst/>
          </a:prstGeom>
          <a:ln w="20320">
            <a:solidFill>
              <a:srgbClr val="218F8D"/>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983480" y="4983480"/>
            <a:ext cx="3337560" cy="822960"/>
          </a:xfrm>
          <a:prstGeom prst="roundRect">
            <a:avLst>
              <a:gd name="adj" fmla="val 8000"/>
            </a:avLst>
          </a:prstGeom>
          <a:solidFill>
            <a:srgbClr val="F5F8FA"/>
          </a:solidFill>
          <a:ln w="12700">
            <a:solidFill>
              <a:srgbClr val="218F8D"/>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02352" y="5102352"/>
            <a:ext cx="3099816" cy="274320"/>
          </a:xfrm>
          <a:prstGeom prst="rect">
            <a:avLst/>
          </a:prstGeom>
          <a:noFill/>
        </p:spPr>
        <p:txBody>
          <a:bodyPr wrap="square" lIns="0" rIns="0" tIns="0" bIns="0" anchor="t">
            <a:spAutoFit/>
          </a:bodyPr>
          <a:lstStyle/>
          <a:p>
            <a:pPr algn="ctr">
              <a:lnSpc>
                <a:spcPts val="1593"/>
              </a:lnSpc>
              <a:spcBef>
                <a:spcPts val="0"/>
              </a:spcBef>
              <a:spcAft>
                <a:spcPts val="0"/>
              </a:spcAft>
              <a:defRPr sz="1350" b="1">
                <a:solidFill>
                  <a:srgbClr val="16354A"/>
                </a:solidFill>
                <a:latin typeface="NanumGothic"/>
              </a:defRPr>
            </a:pPr>
            <a:r>
              <a:t>탐색적 표현 분석</a:t>
            </a:r>
          </a:p>
        </p:txBody>
      </p:sp>
      <p:sp>
        <p:nvSpPr>
          <p:cNvPr id="31" name="TextBox 30"/>
          <p:cNvSpPr txBox="1"/>
          <p:nvPr/>
        </p:nvSpPr>
        <p:spPr>
          <a:xfrm>
            <a:off x="5102352" y="5449824"/>
            <a:ext cx="3099816" cy="246888"/>
          </a:xfrm>
          <a:prstGeom prst="rect">
            <a:avLst/>
          </a:prstGeom>
          <a:noFill/>
        </p:spPr>
        <p:txBody>
          <a:bodyPr wrap="square" lIns="0" rIns="0" tIns="0" bIns="0" anchor="t">
            <a:spAutoFit/>
          </a:bodyPr>
          <a:lstStyle/>
          <a:p>
            <a:pPr algn="ctr">
              <a:lnSpc>
                <a:spcPts val="1475"/>
              </a:lnSpc>
              <a:spcBef>
                <a:spcPts val="0"/>
              </a:spcBef>
              <a:spcAft>
                <a:spcPts val="0"/>
              </a:spcAft>
              <a:defRPr sz="1250" b="0">
                <a:solidFill>
                  <a:srgbClr val="526470"/>
                </a:solidFill>
                <a:latin typeface="NanumGothic"/>
              </a:defRPr>
            </a:pPr>
            <a:r>
              <a:t>최종 h4 → Leiden 군집화</a:t>
            </a:r>
          </a:p>
        </p:txBody>
      </p:sp>
      <p:sp>
        <p:nvSpPr>
          <p:cNvPr id="32" name="Rounded Rectangle 31"/>
          <p:cNvSpPr/>
          <p:nvPr/>
        </p:nvSpPr>
        <p:spPr>
          <a:xfrm>
            <a:off x="8686800" y="4983480"/>
            <a:ext cx="3035808" cy="822960"/>
          </a:xfrm>
          <a:prstGeom prst="roundRect">
            <a:avLst>
              <a:gd name="adj" fmla="val 8000"/>
            </a:avLst>
          </a:prstGeom>
          <a:solidFill>
            <a:srgbClr val="F5F8FA"/>
          </a:solidFill>
          <a:ln w="12700">
            <a:solidFill>
              <a:srgbClr val="B9CCD5"/>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96528" y="5102352"/>
            <a:ext cx="2816352" cy="274320"/>
          </a:xfrm>
          <a:prstGeom prst="rect">
            <a:avLst/>
          </a:prstGeom>
          <a:noFill/>
        </p:spPr>
        <p:txBody>
          <a:bodyPr wrap="square" lIns="0" rIns="0" tIns="0" bIns="0" anchor="t">
            <a:spAutoFit/>
          </a:bodyPr>
          <a:lstStyle/>
          <a:p>
            <a:pPr algn="ctr">
              <a:lnSpc>
                <a:spcPts val="1652"/>
              </a:lnSpc>
              <a:spcBef>
                <a:spcPts val="0"/>
              </a:spcBef>
              <a:spcAft>
                <a:spcPts val="0"/>
              </a:spcAft>
              <a:defRPr sz="1400" b="1">
                <a:solidFill>
                  <a:srgbClr val="16354A"/>
                </a:solidFill>
                <a:latin typeface="NanumGothic"/>
              </a:defRPr>
            </a:pPr>
            <a:r>
              <a:t>향후 해석 분석</a:t>
            </a:r>
          </a:p>
        </p:txBody>
      </p:sp>
      <p:sp>
        <p:nvSpPr>
          <p:cNvPr id="34" name="TextBox 33"/>
          <p:cNvSpPr txBox="1"/>
          <p:nvPr/>
        </p:nvSpPr>
        <p:spPr>
          <a:xfrm>
            <a:off x="8796528" y="5449824"/>
            <a:ext cx="2816352" cy="246888"/>
          </a:xfrm>
          <a:prstGeom prst="rect">
            <a:avLst/>
          </a:prstGeom>
          <a:noFill/>
        </p:spPr>
        <p:txBody>
          <a:bodyPr wrap="square" lIns="0" rIns="0" tIns="0" bIns="0" anchor="t">
            <a:spAutoFit/>
          </a:bodyPr>
          <a:lstStyle/>
          <a:p>
            <a:pPr algn="ctr">
              <a:lnSpc>
                <a:spcPts val="1475"/>
              </a:lnSpc>
              <a:spcBef>
                <a:spcPts val="0"/>
              </a:spcBef>
              <a:spcAft>
                <a:spcPts val="0"/>
              </a:spcAft>
              <a:defRPr sz="1250" b="0">
                <a:solidFill>
                  <a:srgbClr val="526470"/>
                </a:solidFill>
                <a:latin typeface="NanumGothic"/>
              </a:defRPr>
            </a:pPr>
            <a:r>
              <a:t>주의 가중치 프로파일 · Jacobian</a:t>
            </a:r>
          </a:p>
        </p:txBody>
      </p:sp>
      <p:sp>
        <p:nvSpPr>
          <p:cNvPr id="35" name="TextBox 34"/>
          <p:cNvSpPr txBox="1"/>
          <p:nvPr/>
        </p:nvSpPr>
        <p:spPr>
          <a:xfrm>
            <a:off x="502920" y="5010912"/>
            <a:ext cx="4096512" cy="594360"/>
          </a:xfrm>
          <a:prstGeom prst="rect">
            <a:avLst/>
          </a:prstGeom>
          <a:noFill/>
        </p:spPr>
        <p:txBody>
          <a:bodyPr wrap="square" lIns="0" rIns="0" tIns="0" bIns="0" anchor="t">
            <a:spAutoFit/>
          </a:bodyPr>
          <a:lstStyle/>
          <a:p>
            <a:pPr algn="l">
              <a:lnSpc>
                <a:spcPts val="1770"/>
              </a:lnSpc>
              <a:spcBef>
                <a:spcPts val="0"/>
              </a:spcBef>
              <a:spcAft>
                <a:spcPts val="0"/>
              </a:spcAft>
              <a:defRPr sz="1500" b="1">
                <a:solidFill>
                  <a:srgbClr val="16354A"/>
                </a:solidFill>
                <a:latin typeface="NanumGothic"/>
              </a:defRPr>
            </a:pPr>
            <a:r>
              <a:t>학습 목표</a:t>
            </a:r>
          </a:p>
        </p:txBody>
      </p:sp>
      <p:sp>
        <p:nvSpPr>
          <p:cNvPr id="36" name="TextBox 35"/>
          <p:cNvSpPr txBox="1"/>
          <p:nvPr/>
        </p:nvSpPr>
        <p:spPr>
          <a:xfrm>
            <a:off x="502920" y="5367528"/>
            <a:ext cx="4160520" cy="457200"/>
          </a:xfrm>
          <a:prstGeom prst="rect">
            <a:avLst/>
          </a:prstGeom>
          <a:noFill/>
        </p:spPr>
        <p:txBody>
          <a:bodyPr wrap="square" lIns="0" rIns="0" tIns="0" bIns="0" anchor="t">
            <a:spAutoFit/>
          </a:bodyPr>
          <a:lstStyle/>
          <a:p>
            <a:pPr algn="l">
              <a:lnSpc>
                <a:spcPts val="1534"/>
              </a:lnSpc>
              <a:spcBef>
                <a:spcPts val="0"/>
              </a:spcBef>
              <a:spcAft>
                <a:spcPts val="0"/>
              </a:spcAft>
              <a:defRPr sz="1300" b="0">
                <a:solidFill>
                  <a:srgbClr val="526470"/>
                </a:solidFill>
                <a:latin typeface="NanumGothic"/>
              </a:defRPr>
            </a:pPr>
            <a:r>
              <a:t>관측 유전자, 형태 정보, 이웃 세포로</a:t>
            </a:r>
          </a:p>
          <a:p>
            <a:pPr algn="l">
              <a:lnSpc>
                <a:spcPts val="1534"/>
              </a:lnSpc>
              <a:spcBef>
                <a:spcPts val="0"/>
              </a:spcBef>
              <a:spcAft>
                <a:spcPts val="0"/>
              </a:spcAft>
              <a:defRPr sz="1300" b="0">
                <a:solidFill>
                  <a:srgbClr val="526470"/>
                </a:solidFill>
                <a:latin typeface="NanumGothic"/>
              </a:defRPr>
            </a:pPr>
            <a:r>
              <a:t>숨겨진 Pearson 잔차 특성을 예측</a:t>
            </a:r>
          </a:p>
        </p:txBody>
      </p:sp>
      <p:sp>
        <p:nvSpPr>
          <p:cNvPr id="37" name="TextBox 36"/>
          <p:cNvSpPr txBox="1"/>
          <p:nvPr/>
        </p:nvSpPr>
        <p:spPr>
          <a:xfrm>
            <a:off x="502920" y="6007608"/>
            <a:ext cx="11201400" cy="256032"/>
          </a:xfrm>
          <a:prstGeom prst="rect">
            <a:avLst/>
          </a:prstGeom>
          <a:noFill/>
        </p:spPr>
        <p:txBody>
          <a:bodyPr wrap="square" lIns="0" rIns="0" tIns="0" bIns="0" anchor="t">
            <a:spAutoFit/>
          </a:bodyPr>
          <a:lstStyle/>
          <a:p>
            <a:pPr algn="l">
              <a:lnSpc>
                <a:spcPts val="1297"/>
              </a:lnSpc>
              <a:spcBef>
                <a:spcPts val="0"/>
              </a:spcBef>
              <a:spcAft>
                <a:spcPts val="0"/>
              </a:spcAft>
              <a:defRPr sz="1100" b="0">
                <a:solidFill>
                  <a:srgbClr val="526470"/>
                </a:solidFill>
                <a:latin typeface="NanumGothic"/>
              </a:defRPr>
            </a:pPr>
            <a:r>
              <a:t>학습: 20개 코어 / 10개 기증자 그룹    검증: 8개 코어 / 4개 그룹    독립 테스트 없음</a:t>
            </a:r>
          </a:p>
        </p:txBody>
      </p:sp>
      <p:sp>
        <p:nvSpPr>
          <p:cNvPr id="38" name="TextBox 37"/>
          <p:cNvSpPr txBox="1"/>
          <p:nvPr/>
        </p:nvSpPr>
        <p:spPr>
          <a:xfrm>
            <a:off x="502920" y="6300216"/>
            <a:ext cx="11201400" cy="210312"/>
          </a:xfrm>
          <a:prstGeom prst="rect">
            <a:avLst/>
          </a:prstGeom>
          <a:noFill/>
        </p:spPr>
        <p:txBody>
          <a:bodyPr wrap="square" lIns="0" rIns="0" tIns="0" bIns="0" anchor="t">
            <a:spAutoFit/>
          </a:bodyPr>
          <a:lstStyle/>
          <a:p>
            <a:pPr algn="l">
              <a:lnSpc>
                <a:spcPts val="1085"/>
              </a:lnSpc>
              <a:spcBef>
                <a:spcPts val="0"/>
              </a:spcBef>
              <a:spcAft>
                <a:spcPts val="0"/>
              </a:spcAft>
              <a:defRPr sz="919" b="0">
                <a:solidFill>
                  <a:srgbClr val="526470"/>
                </a:solidFill>
                <a:latin typeface="NanumGothic"/>
              </a:defRPr>
            </a:pPr>
            <a:r>
              <a:t>주의 가중치는 모델의 정보 전달 비율이며, 생물학적 인과 효과를 뜻하지 않음.</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BAGM original Relative-Geometric QKV architecture</dc:title>
  <dc:subject>Editable English/Korean model diagram and exact block equations</dc:subject>
  <dc:creator>BAGM draft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